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大家好，今天我来介绍 DramaFlow —— 一个由 AI 驱动的短剧全流程生产平台。它是一个 TypeScript 单仓多包项目，由前端、后端、轮询 worker 和一个共享契约包四部分组成，覆盖了从剧本创作到成片导出的完整链路。接下来的十几分钟，我会带大家走一遍它的定位、能力、技术栈与架构。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先从定位说起。DramaFlow 面向的是导演与制作团队，核心目标是把短剧生产做成一条 AI 全流程闭环。简单说，就是让一个创作者从一句话梗概出发，在同一平台内完成剧本、分镜、图片、视频、配音、时间线组装直到导出。这一页用三根支柱概括了它覆盖的范围：创作、媒体生产，以及协作与导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这一页展开六大核心能力。AI 写作支持剧本、梗概、分镜和改写，并以流式方式生成，还支持对话式问答。分镜工作台提供拖拽重排、多选和镜头三栏详情。图片和视频生成都支持逐镜头和批量两种模式，并能在多个 provider 之间灵活切换。配音可以逐镜头或按场景批量合成。最后，协作审阅把版本生命周期、线程评论、审计和权限统一管理起来。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技术栈上，DramaFlow 是全栈 TypeScript。前端用 Next.js 十五和 React 十九，基于 App Router，样式是纯 CSS 语义化，国际化也是自研的。后端是 NestJS 十一，认证用 JWT 配合 argon2，实时推送走 Socket.IO 网关。数据层是 PostgreSQL 加 Prisma，一共二十六个模型。基础设施方面用 npm workspaces 管理多包，存储支持本地和 S3 两种后端，导出依赖 FFmpeg，整体可以通过 Docker Compose 一键拉起。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架构上是一个清晰的四层 monorepo。最上层是 apps/web，Next.js 前端，用一个统一的工作区 shell 通过 URL 的 mode 参数切换四种模式。往下是 apps/api，NestJS 服务，承载了几乎全部业务逻辑和 provider 编排。第三层是 apps/worker，只有大约一百行的轮询循环，负责认领、执行和重试任务，本身不含业务逻辑。底层贯穿四件套的是 packages/shared，它是跨栈领域类型和业务规则的唯一真相源。底部这条深色横带，则是贯穿各层的横切关注点：数据库、实时通信、存储和导出。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AI 生成能力串成一条端到端的生产链。第一段是文本生成，产出剧本和梗概；然后是图片生成，对接 Gemini、SD WebUI 和 ComfyUI，产出镜头图；接着视频生成产出镜头视频；再往后是 TTS 配音，产出角色语音；最后由合成导出把时间线组装成成片。关键点是，每个阶段的产出物都能被下游复用，形成一条真正闭环的流水线。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文档在生产过程中遵循一套明确的审阅生命周期：从草稿，到已提交，到待审，最终走向通过或驳回。驳回后会回到草稿重新修改，形成一个回环。所有审阅与审批的业务规则都集中在共享包的 business-rules 文件里，保证前后端和 worker 行为一致。除了状态流转，版本管理还支持采纳、还原和差异对比，而剧本与世界观角色之间则通过 WebSocket 做实时双向同步。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整个创作过程发生在一个统一的工作区里，通过 URL 的 mode 参数在四种模式间切换。信息模式展示项目面板和成员；文档模式是主战场，涵盖查看、编辑、生成和版本，世界观和媒体也都映射到这里；任务模式跟踪生成任务和批量作业；时间线模式负责时间线编辑、自动组装和导出提交。一套 shell、四种模式，把分散的工具收敛到一个连续的工作流。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最后看一下当前状态。DramaFlow 目前已经开发就绪，五项关键能力都已落地：PostgreSQL 加 Prisma 的持久化、轮询 worker 任务流、Socket.IO 实时更新、provider 对接加 mock 回退，以及 FFmpeg 视频导出。面向未来，主要规划了两件事：一是引入 Redis 或 BullMQ 来替换当前的轮询 worker，提升吞吐和可靠性；二是完成生产化加固，补齐可观测性、限流和运维能力。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这就是 DramaFlow 的全貌 —— 一个让短剧创作如行云流水的 AI 全流程平台。它现在开发就绪，欢迎大家一起使用、贡献和反馈。运行起来很简单：Node.js 二十四以上，装好依赖，跑一次构建，就能在本地三百端口打开前端、四百端口访问后端。感谢大家的观看。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476250"/>
            <a:ext cx="12668250" cy="7810500"/>
            <a:chOff x="-285750" y="-476250"/>
            <a:chExt cx="12668250" cy="7810500"/>
          </a:xfrm>
        </p:grpSpPr>
        <p:sp>
          <p:nvSpPr>
            <p:cNvPr id="3" name="Ellipse 3"/>
            <p:cNvSpPr/>
            <p:nvPr/>
          </p:nvSpPr>
          <p:spPr>
            <a:xfrm>
              <a:off x="9144000" y="-476250"/>
              <a:ext cx="3238500" cy="32385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77500" y="1047750"/>
              <a:ext cx="1714500" cy="17145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285750" y="44767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0" y="46672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0" y="2209800"/>
            <a:ext cx="2286000" cy="419100"/>
            <a:chOff x="4953000" y="2209800"/>
            <a:chExt cx="2286000" cy="419100"/>
          </a:xfrm>
        </p:grpSpPr>
        <p:sp>
          <p:nvSpPr>
            <p:cNvPr id="8" name="Rectangle 8"/>
            <p:cNvSpPr/>
            <p:nvPr/>
          </p:nvSpPr>
          <p:spPr>
            <a:xfrm>
              <a:off x="4953000" y="22098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19700" y="2343150"/>
              <a:ext cx="152400" cy="152400"/>
              <a:chOff x="5219700" y="2343150"/>
              <a:chExt cx="1524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219700" y="2343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2578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3340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2197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197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19700" y="24193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340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340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393055" y="235505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· 短剧生产平台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33839" y="2842260"/>
            <a:ext cx="5324323" cy="1463040"/>
            <a:chOff x="3433839" y="2842260"/>
            <a:chExt cx="5324323" cy="1463040"/>
          </a:xfrm>
        </p:grpSpPr>
        <p:sp>
          <p:nvSpPr>
            <p:cNvPr id="20" name="TextBox 20"/>
            <p:cNvSpPr txBox="1"/>
            <p:nvPr/>
          </p:nvSpPr>
          <p:spPr>
            <a:xfrm>
              <a:off x="3433839" y="2842260"/>
              <a:ext cx="5324323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Drama</a:t>
              </a:r>
              <a:r>
                <a:rPr lang="zh-CN" sz="72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Flow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61389" y="3918109"/>
            <a:ext cx="3869222" cy="441960"/>
            <a:chOff x="4161389" y="3918109"/>
            <a:chExt cx="3869222" cy="441960"/>
          </a:xfrm>
        </p:grpSpPr>
        <p:sp>
          <p:nvSpPr>
            <p:cNvPr id="22" name="TextBox 22"/>
            <p:cNvSpPr txBox="1"/>
            <p:nvPr/>
          </p:nvSpPr>
          <p:spPr>
            <a:xfrm>
              <a:off x="4161389" y="3918109"/>
              <a:ext cx="386922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AI 驱动的短剧全流程生产平台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0" y="4476750"/>
            <a:ext cx="1143000" cy="38100"/>
            <a:chOff x="5524500" y="4476750"/>
            <a:chExt cx="1143000" cy="38100"/>
          </a:xfrm>
        </p:grpSpPr>
        <p:sp>
          <p:nvSpPr>
            <p:cNvPr id="24" name="Rectangle 24"/>
            <p:cNvSpPr/>
            <p:nvPr/>
          </p:nvSpPr>
          <p:spPr>
            <a:xfrm>
              <a:off x="5524500" y="447675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096512" y="4899660"/>
            <a:ext cx="3998976" cy="243840"/>
            <a:chOff x="4096512" y="4899660"/>
            <a:chExt cx="3998976" cy="243840"/>
          </a:xfrm>
        </p:grpSpPr>
        <p:sp>
          <p:nvSpPr>
            <p:cNvPr id="26" name="TextBox 26"/>
            <p:cNvSpPr txBox="1"/>
            <p:nvPr/>
          </p:nvSpPr>
          <p:spPr>
            <a:xfrm>
              <a:off x="4096512" y="4899660"/>
              <a:ext cx="3998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TypeScript Monorepo · Web + API + Worker + Shared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95900" y="5524500"/>
            <a:ext cx="1600200" cy="342900"/>
            <a:chOff x="5295900" y="5524500"/>
            <a:chExt cx="1600200" cy="342900"/>
          </a:xfrm>
        </p:grpSpPr>
        <p:sp>
          <p:nvSpPr>
            <p:cNvPr id="28" name="Rectangle 28"/>
            <p:cNvSpPr/>
            <p:nvPr/>
          </p:nvSpPr>
          <p:spPr>
            <a:xfrm>
              <a:off x="5295900" y="55245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02828" y="56316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2026 · 项目介绍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666750"/>
            <a:ext cx="11430000" cy="5905500"/>
            <a:chOff x="476250" y="666750"/>
            <a:chExt cx="11430000" cy="5905500"/>
          </a:xfrm>
        </p:grpSpPr>
        <p:sp>
          <p:nvSpPr>
            <p:cNvPr id="3" name="Ellipse 3"/>
            <p:cNvSpPr/>
            <p:nvPr/>
          </p:nvSpPr>
          <p:spPr>
            <a:xfrm>
              <a:off x="476250" y="6667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429750" y="4095750"/>
              <a:ext cx="2476500" cy="2476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项目定位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770965" y="76295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POSITIONING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00118" y="2343150"/>
            <a:ext cx="4591764" cy="1162050"/>
            <a:chOff x="3800118" y="2343150"/>
            <a:chExt cx="4591764" cy="1162050"/>
          </a:xfrm>
        </p:grpSpPr>
        <p:sp>
          <p:nvSpPr>
            <p:cNvPr id="10" name="TextBox 10"/>
            <p:cNvSpPr txBox="1"/>
            <p:nvPr/>
          </p:nvSpPr>
          <p:spPr>
            <a:xfrm>
              <a:off x="3957638" y="23431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面向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导演与制作团队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0118" y="2895600"/>
              <a:ext cx="45917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短剧 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全流程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 生产平台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25611" y="3759518"/>
            <a:ext cx="3940778" cy="274320"/>
            <a:chOff x="4125611" y="3759518"/>
            <a:chExt cx="3940778" cy="274320"/>
          </a:xfrm>
        </p:grpSpPr>
        <p:sp>
          <p:nvSpPr>
            <p:cNvPr id="13" name="TextBox 13"/>
            <p:cNvSpPr txBox="1"/>
            <p:nvPr/>
          </p:nvSpPr>
          <p:spPr>
            <a:xfrm>
              <a:off x="4125611" y="3759518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从一句话梗概到成片导出 —— 全程在同一平台完成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4572000"/>
            <a:ext cx="6477000" cy="9525"/>
            <a:chOff x="2857500" y="4572000"/>
            <a:chExt cx="6477000" cy="9525"/>
          </a:xfrm>
        </p:grpSpPr>
        <p:sp>
          <p:nvSpPr>
            <p:cNvPr id="15" name="Line 15"/>
            <p:cNvSpPr/>
            <p:nvPr/>
          </p:nvSpPr>
          <p:spPr>
            <a:xfrm>
              <a:off x="2857500" y="4572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088481" y="5048250"/>
            <a:ext cx="7123367" cy="628650"/>
            <a:chOff x="3088481" y="5048250"/>
            <a:chExt cx="7123367" cy="628650"/>
          </a:xfrm>
        </p:grpSpPr>
        <p:grpSp>
          <p:nvGrpSpPr>
            <p:cNvPr id="23" name="Group 23"/>
            <p:cNvGrpSpPr/>
            <p:nvPr/>
          </p:nvGrpSpPr>
          <p:grpSpPr>
            <a:xfrm>
              <a:off x="3088481" y="5133975"/>
              <a:ext cx="1611249" cy="509587"/>
              <a:chOff x="3088481" y="5133975"/>
              <a:chExt cx="1611249" cy="509587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3088481" y="5183981"/>
                <a:ext cx="229394" cy="215900"/>
                <a:chOff x="3088481" y="5183981"/>
                <a:chExt cx="229394" cy="2159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263900" y="5183981"/>
                  <a:ext cx="53975" cy="2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15900">
                      <a:moveTo>
                        <a:pt x="53975" y="188913"/>
                      </a:moveTo>
                      <a:lnTo>
                        <a:pt x="53975" y="26988"/>
                      </a:lnTo>
                      <a:cubicBezTo>
                        <a:pt x="53975" y="11861"/>
                        <a:pt x="42114" y="0"/>
                        <a:pt x="26987" y="0"/>
                      </a:cubicBezTo>
                      <a:cubicBezTo>
                        <a:pt x="11861" y="0"/>
                        <a:pt x="0" y="11861"/>
                        <a:pt x="0" y="26988"/>
                      </a:cubicBezTo>
                      <a:lnTo>
                        <a:pt x="0" y="188913"/>
                      </a:lnTo>
                      <a:lnTo>
                        <a:pt x="26987" y="215900"/>
                      </a:lnTo>
                      <a:lnTo>
                        <a:pt x="53975" y="188913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263900" y="5237956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088481" y="5291931"/>
                  <a:ext cx="20240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107950">
                      <a:moveTo>
                        <a:pt x="202406" y="107950"/>
                      </a:moveTo>
                      <a:lnTo>
                        <a:pt x="26987" y="107950"/>
                      </a:lnTo>
                      <a:cubicBezTo>
                        <a:pt x="12083" y="107950"/>
                        <a:pt x="0" y="95867"/>
                        <a:pt x="0" y="80962"/>
                      </a:cubicBezTo>
                      <a:cubicBezTo>
                        <a:pt x="0" y="66058"/>
                        <a:pt x="12083" y="53975"/>
                        <a:pt x="26987" y="53975"/>
                      </a:cubicBezTo>
                      <a:lnTo>
                        <a:pt x="80962" y="53975"/>
                      </a:lnTo>
                      <a:cubicBezTo>
                        <a:pt x="95867" y="53975"/>
                        <a:pt x="107950" y="41892"/>
                        <a:pt x="107950" y="26987"/>
                      </a:cubicBezTo>
                      <a:cubicBezTo>
                        <a:pt x="107950" y="12083"/>
                        <a:pt x="95867" y="0"/>
                        <a:pt x="80962" y="0"/>
                      </a:cubicBezTo>
                      <a:lnTo>
                        <a:pt x="40481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505200" y="51339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创作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1091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· 梗概 · 分镜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53911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774531" y="5133975"/>
              <a:ext cx="1611249" cy="509587"/>
              <a:chOff x="5774531" y="5133975"/>
              <a:chExt cx="1611249" cy="509587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5774531" y="5183981"/>
                <a:ext cx="242888" cy="242888"/>
                <a:chOff x="5774531" y="5183981"/>
                <a:chExt cx="242888" cy="24288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936456" y="5251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3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774531" y="51839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0" y="40481"/>
                      </a:moveTo>
                      <a:cubicBezTo>
                        <a:pt x="0" y="18124"/>
                        <a:pt x="18124" y="0"/>
                        <a:pt x="40481" y="0"/>
                      </a:cubicBezTo>
                      <a:lnTo>
                        <a:pt x="202406" y="0"/>
                      </a:lnTo>
                      <a:cubicBezTo>
                        <a:pt x="224763" y="0"/>
                        <a:pt x="242888" y="18124"/>
                        <a:pt x="242888" y="40481"/>
                      </a:cubicBezTo>
                      <a:lnTo>
                        <a:pt x="242888" y="202406"/>
                      </a:lnTo>
                      <a:cubicBezTo>
                        <a:pt x="242888" y="224763"/>
                        <a:pt x="224763" y="242888"/>
                        <a:pt x="202406" y="242888"/>
                      </a:cubicBezTo>
                      <a:lnTo>
                        <a:pt x="40481" y="242888"/>
                      </a:lnTo>
                      <a:cubicBezTo>
                        <a:pt x="18124" y="242888"/>
                        <a:pt x="0" y="224763"/>
                        <a:pt x="0" y="202406"/>
                      </a:cubicBez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74531" y="5279881"/>
                  <a:ext cx="175419" cy="79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419" h="79519">
                      <a:moveTo>
                        <a:pt x="0" y="79519"/>
                      </a:moveTo>
                      <a:lnTo>
                        <a:pt x="67469" y="12050"/>
                      </a:lnTo>
                      <a:cubicBezTo>
                        <a:pt x="79991" y="0"/>
                        <a:pt x="95428" y="0"/>
                        <a:pt x="107950" y="12050"/>
                      </a:cubicBezTo>
                      <a:lnTo>
                        <a:pt x="175419" y="7951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22962" y="5306869"/>
                  <a:ext cx="94456" cy="52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52531">
                      <a:moveTo>
                        <a:pt x="0" y="25544"/>
                      </a:moveTo>
                      <a:lnTo>
                        <a:pt x="13494" y="12050"/>
                      </a:lnTo>
                      <a:cubicBezTo>
                        <a:pt x="26016" y="0"/>
                        <a:pt x="41453" y="0"/>
                        <a:pt x="53975" y="12050"/>
                      </a:cubicBezTo>
                      <a:lnTo>
                        <a:pt x="94456" y="5253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6191250" y="51339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媒体生产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9696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图片 · 视频 · 配音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80962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87569" y="5133975"/>
              <a:ext cx="1724279" cy="509587"/>
              <a:chOff x="8487569" y="5133975"/>
              <a:chExt cx="1724279" cy="509587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8487569" y="5183981"/>
                <a:ext cx="215900" cy="256381"/>
                <a:chOff x="8487569" y="5183981"/>
                <a:chExt cx="215900" cy="25638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609012" y="5183981"/>
                  <a:ext cx="67469" cy="67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67469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61427"/>
                        <a:pt x="6041" y="67469"/>
                        <a:pt x="13494" y="67469"/>
                      </a:cubicBezTo>
                      <a:lnTo>
                        <a:pt x="67469" y="67469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87569" y="5183981"/>
                  <a:ext cx="215900" cy="256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256381">
                      <a:moveTo>
                        <a:pt x="87709" y="242888"/>
                      </a:moveTo>
                      <a:lnTo>
                        <a:pt x="26987" y="242888"/>
                      </a:lnTo>
                      <a:cubicBezTo>
                        <a:pt x="12083" y="242888"/>
                        <a:pt x="0" y="230805"/>
                        <a:pt x="0" y="215900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121444" y="0"/>
                      </a:lnTo>
                      <a:lnTo>
                        <a:pt x="188912" y="67469"/>
                      </a:lnTo>
                      <a:lnTo>
                        <a:pt x="188912" y="134937"/>
                      </a:lnTo>
                      <a:moveTo>
                        <a:pt x="121444" y="215900"/>
                      </a:moveTo>
                      <a:lnTo>
                        <a:pt x="215900" y="215900"/>
                      </a:lnTo>
                      <a:moveTo>
                        <a:pt x="175419" y="175419"/>
                      </a:moveTo>
                      <a:lnTo>
                        <a:pt x="215900" y="215900"/>
                      </a:lnTo>
                      <a:lnTo>
                        <a:pt x="175419" y="256381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8877300" y="51339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协作与导出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83015" y="5430202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审阅 · 时间线 · 成片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41" name="TextBox 41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核心能力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71915" y="76295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CORE CAPABILITIES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0860" cy="243840"/>
            <a:chOff x="784860" y="1089660"/>
            <a:chExt cx="3070860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六大核心能力构成从创作到导出的完整闭环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524000"/>
            <a:ext cx="3505200" cy="2190750"/>
            <a:chOff x="609600" y="1524000"/>
            <a:chExt cx="3505200" cy="219075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59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0125" y="1914525"/>
              <a:ext cx="269875" cy="254000"/>
              <a:chOff x="1000125" y="1914525"/>
              <a:chExt cx="269875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06500" y="1914525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222250"/>
                    </a:moveTo>
                    <a:lnTo>
                      <a:pt x="63500" y="31750"/>
                    </a:lnTo>
                    <a:cubicBezTo>
                      <a:pt x="63500" y="13954"/>
                      <a:pt x="49546" y="0"/>
                      <a:pt x="31750" y="0"/>
                    </a:cubicBezTo>
                    <a:cubicBezTo>
                      <a:pt x="13954" y="0"/>
                      <a:pt x="0" y="13954"/>
                      <a:pt x="0" y="31750"/>
                    </a:cubicBezTo>
                    <a:lnTo>
                      <a:pt x="0" y="222250"/>
                    </a:lnTo>
                    <a:lnTo>
                      <a:pt x="31750" y="254000"/>
                    </a:lnTo>
                    <a:lnTo>
                      <a:pt x="63500" y="2222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9780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125" y="2041525"/>
                <a:ext cx="238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27000">
                    <a:moveTo>
                      <a:pt x="238125" y="127000"/>
                    </a:move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cubicBezTo>
                      <a:pt x="0" y="77715"/>
                      <a:pt x="14215" y="63500"/>
                      <a:pt x="31750" y="63500"/>
                    </a:cubicBezTo>
                    <a:lnTo>
                      <a:pt x="95250" y="63500"/>
                    </a:lnTo>
                    <a:cubicBezTo>
                      <a:pt x="112785" y="63500"/>
                      <a:pt x="127000" y="49285"/>
                      <a:pt x="127000" y="31750"/>
                    </a:cubicBezTo>
                    <a:cubicBezTo>
                      <a:pt x="127000" y="14215"/>
                      <a:pt x="112785" y="0"/>
                      <a:pt x="95250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54392" y="2499836"/>
              <a:ext cx="80463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写作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870" y="2817495"/>
              <a:ext cx="615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AI WRITING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12" y="31170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剧本、梗概、分镜、改写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012" y="3345656"/>
              <a:ext cx="1483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43400" y="1524000"/>
            <a:ext cx="3505200" cy="2190750"/>
            <a:chOff x="4343400" y="1524000"/>
            <a:chExt cx="35052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97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6101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49800" y="1930400"/>
              <a:ext cx="254000" cy="254000"/>
              <a:chOff x="4749800" y="1930400"/>
              <a:chExt cx="254000" cy="25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980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0855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980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0855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588192" y="24998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分镜工作台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8670" y="2817495"/>
              <a:ext cx="7663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STORYBOARD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5812" y="31170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拖拽重排 · 多选操作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5812" y="33456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镜头三栏详情面板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77200" y="1524000"/>
            <a:ext cx="3505200" cy="2190750"/>
            <a:chOff x="8077200" y="1524000"/>
            <a:chExt cx="35052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80772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535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467725" y="1914525"/>
              <a:ext cx="285750" cy="285750"/>
              <a:chOff x="8467725" y="1914525"/>
              <a:chExt cx="285750" cy="2857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58225" y="199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67725" y="19145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238125"/>
                    </a:lnTo>
                    <a:cubicBezTo>
                      <a:pt x="285750" y="264428"/>
                      <a:pt x="264428" y="285750"/>
                      <a:pt x="238125" y="285750"/>
                    </a:cubicBezTo>
                    <a:lnTo>
                      <a:pt x="47625" y="285750"/>
                    </a:lnTo>
                    <a:cubicBezTo>
                      <a:pt x="21322" y="285750"/>
                      <a:pt x="0" y="264428"/>
                      <a:pt x="0" y="23812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67725" y="2027349"/>
                <a:ext cx="206375" cy="93551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3551">
                    <a:moveTo>
                      <a:pt x="0" y="93551"/>
                    </a:moveTo>
                    <a:lnTo>
                      <a:pt x="79375" y="14176"/>
                    </a:lnTo>
                    <a:cubicBezTo>
                      <a:pt x="94107" y="0"/>
                      <a:pt x="112268" y="0"/>
                      <a:pt x="127000" y="14176"/>
                    </a:cubicBezTo>
                    <a:lnTo>
                      <a:pt x="206375" y="9355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642350" y="2059099"/>
                <a:ext cx="111125" cy="6180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1801">
                    <a:moveTo>
                      <a:pt x="0" y="30051"/>
                    </a:moveTo>
                    <a:lnTo>
                      <a:pt x="15875" y="14176"/>
                    </a:lnTo>
                    <a:cubicBezTo>
                      <a:pt x="30607" y="0"/>
                      <a:pt x="48768" y="0"/>
                      <a:pt x="63500" y="14176"/>
                    </a:cubicBezTo>
                    <a:lnTo>
                      <a:pt x="111125" y="6180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321992" y="24998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2470" y="281749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IMAGE GEN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9612" y="31170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9612" y="33456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候选管理 · 明确采纳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3905250"/>
            <a:ext cx="3505200" cy="2190750"/>
            <a:chOff x="609600" y="3905250"/>
            <a:chExt cx="3505200" cy="2190750"/>
          </a:xfrm>
        </p:grpSpPr>
        <p:sp>
          <p:nvSpPr>
            <p:cNvPr id="47" name="Rectangle 47"/>
            <p:cNvSpPr/>
            <p:nvPr/>
          </p:nvSpPr>
          <p:spPr>
            <a:xfrm>
              <a:off x="6096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859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63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00125" y="4343400"/>
              <a:ext cx="285750" cy="190500"/>
              <a:chOff x="1000125" y="4343400"/>
              <a:chExt cx="285750" cy="190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190625" y="436831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5"/>
                      <a:pt x="87719" y="137526"/>
                    </a:cubicBezTo>
                    <a:cubicBezTo>
                      <a:pt x="83040" y="140417"/>
                      <a:pt x="77199" y="140680"/>
                      <a:pt x="72279" y="138221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00125" y="4343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543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870" y="519874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VIDEO GEN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0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2012" y="5726906"/>
              <a:ext cx="14912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多 provider 灵活切换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343400" y="3905250"/>
            <a:ext cx="3505200" cy="2190750"/>
            <a:chOff x="4343400" y="3905250"/>
            <a:chExt cx="3505200" cy="2190750"/>
          </a:xfrm>
        </p:grpSpPr>
        <p:sp>
          <p:nvSpPr>
            <p:cNvPr id="58" name="Rectangle 58"/>
            <p:cNvSpPr/>
            <p:nvPr/>
          </p:nvSpPr>
          <p:spPr>
            <a:xfrm>
              <a:off x="43434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197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101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4765675" y="4279900"/>
              <a:ext cx="222250" cy="311150"/>
              <a:chOff x="4765675" y="4279900"/>
              <a:chExt cx="222250" cy="3111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829175" y="427990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765675" y="440690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813300" y="458152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876800" y="45180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588192" y="4881086"/>
              <a:ext cx="99785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98670" y="5198745"/>
              <a:ext cx="665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VOICEOVER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95812" y="54983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 · 按场景批量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95812" y="57269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角色语音统一生成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77200" y="3905250"/>
            <a:ext cx="3505200" cy="2190750"/>
            <a:chOff x="8077200" y="3905250"/>
            <a:chExt cx="3505200" cy="2190750"/>
          </a:xfrm>
        </p:grpSpPr>
        <p:sp>
          <p:nvSpPr>
            <p:cNvPr id="71" name="Rectangle 71"/>
            <p:cNvSpPr/>
            <p:nvPr/>
          </p:nvSpPr>
          <p:spPr>
            <a:xfrm>
              <a:off x="80772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6535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439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8467725" y="4295775"/>
              <a:ext cx="285750" cy="285750"/>
              <a:chOff x="8467725" y="4295775"/>
              <a:chExt cx="285750" cy="2857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99475" y="42957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467725" y="44862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674100" y="42978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05850" y="4488656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3219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协作审阅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32470" y="5198745"/>
              <a:ext cx="10183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COLLAB &amp; REVIEW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96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版本生命周期管理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9612" y="57269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线程评论 · 审计 · 权限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4" name="TextBox 84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03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6" grpId="0"/>
      <p:bldP spid="57" grpId="0"/>
      <p:bldP spid="70" grpId="0"/>
      <p:bldP spid="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33973" y="7629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02914" cy="243840"/>
            <a:chOff x="784860" y="1089660"/>
            <a:chExt cx="3502914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02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全栈 TypeScript · 现代化、统一语言、共享契约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524000"/>
            <a:ext cx="2600325" cy="4648200"/>
            <a:chOff x="609600" y="1524000"/>
            <a:chExt cx="2600325" cy="46482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42975" y="1911350"/>
              <a:ext cx="285750" cy="254000"/>
              <a:chOff x="942975" y="1911350"/>
              <a:chExt cx="285750" cy="254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4297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522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4100" y="19113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1724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770" y="2779395"/>
              <a:ext cx="6025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FRONTEND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8582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33361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Next.js 15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8582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3462" y="369808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React 19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8582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3462" y="406003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App Router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8582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3462" y="442198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自定义 i18n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8582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3462" y="4783931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纯 CSS 语义化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00425" y="1524000"/>
            <a:ext cx="2600325" cy="4648200"/>
            <a:chOff x="3400425" y="1524000"/>
            <a:chExt cx="2600325" cy="4648200"/>
          </a:xfrm>
        </p:grpSpPr>
        <p:sp>
          <p:nvSpPr>
            <p:cNvPr id="29" name="Rectangle 29"/>
            <p:cNvSpPr/>
            <p:nvPr/>
          </p:nvSpPr>
          <p:spPr>
            <a:xfrm>
              <a:off x="340042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2902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733800" y="1911350"/>
              <a:ext cx="285750" cy="254000"/>
              <a:chOff x="3733800" y="1911350"/>
              <a:chExt cx="285750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733800" y="1911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733800" y="2038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97300" y="1974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97300" y="210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608070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后端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7595" y="2779395"/>
              <a:ext cx="508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BACKEND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62902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67665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24288" y="3336131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NestJS 11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7665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24288" y="3698081"/>
              <a:ext cx="10209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JWT + argon2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7665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24288" y="4060031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Socket.IO 网关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67665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24288" y="4421981"/>
              <a:ext cx="91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内部 API Key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67665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24288" y="4783931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Swagger 文档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524000"/>
            <a:ext cx="2600325" cy="4648200"/>
            <a:chOff x="6191250" y="1524000"/>
            <a:chExt cx="2600325" cy="4648200"/>
          </a:xfrm>
        </p:grpSpPr>
        <p:sp>
          <p:nvSpPr>
            <p:cNvPr id="50" name="Rectangle 50"/>
            <p:cNvSpPr/>
            <p:nvPr/>
          </p:nvSpPr>
          <p:spPr>
            <a:xfrm>
              <a:off x="619125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1985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40500" y="1895475"/>
              <a:ext cx="254000" cy="285750"/>
              <a:chOff x="6540500" y="1895475"/>
              <a:chExt cx="254000" cy="2857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40500" y="18954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0500" y="19431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0500" y="20383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9889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08420" y="2779395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DATA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1985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46747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3336131"/>
              <a:ext cx="926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PostgreSQL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747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5112" y="3698081"/>
              <a:ext cx="910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Prisma ORM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6747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15112" y="40600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26 个数据模型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6747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15112" y="44219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乐观更新缓存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6747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5112" y="4783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版本差异对比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982075" y="1524000"/>
            <a:ext cx="2600325" cy="4648200"/>
            <a:chOff x="8982075" y="1524000"/>
            <a:chExt cx="2600325" cy="4648200"/>
          </a:xfrm>
        </p:grpSpPr>
        <p:sp>
          <p:nvSpPr>
            <p:cNvPr id="70" name="Rectangle 70"/>
            <p:cNvSpPr/>
            <p:nvPr/>
          </p:nvSpPr>
          <p:spPr>
            <a:xfrm>
              <a:off x="898207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21067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299575" y="1922304"/>
              <a:ext cx="317500" cy="211360"/>
            </a:xfrm>
            <a:custGeom>
              <a:avLst/>
              <a:gdLst/>
              <a:ahLst/>
              <a:cxnLst/>
              <a:rect l="l" t="t" r="r" b="b"/>
              <a:pathLst>
                <a:path w="317500" h="211360">
                  <a:moveTo>
                    <a:pt x="73930" y="211296"/>
                  </a:moveTo>
                  <a:cubicBezTo>
                    <a:pt x="33099" y="211296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0" y="9081"/>
                  </a:cubicBezTo>
                  <a:cubicBezTo>
                    <a:pt x="162115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3"/>
                  </a:cubicBezTo>
                  <a:lnTo>
                    <a:pt x="262509" y="100663"/>
                  </a:lnTo>
                  <a:cubicBezTo>
                    <a:pt x="292878" y="100663"/>
                    <a:pt x="317500" y="125428"/>
                    <a:pt x="317500" y="156004"/>
                  </a:cubicBezTo>
                  <a:cubicBezTo>
                    <a:pt x="317500" y="186595"/>
                    <a:pt x="292878" y="211360"/>
                    <a:pt x="262493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89720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基础设施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99245" y="2779395"/>
              <a:ext cx="9616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INFRASTRUCTURE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21067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25830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05938" y="3336131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npm workspaces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25830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405938" y="3698081"/>
              <a:ext cx="121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本地 / S3 双存储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25830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05938" y="4060031"/>
              <a:ext cx="9421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FFmpeg 导出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25830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405938" y="4421981"/>
              <a:ext cx="1233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Docker Compose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25830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05938" y="47839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Node.js &gt;= 24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7" name="TextBox 8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9" grpId="0"/>
      <p:bldP spid="69" grpId="0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679954" y="762952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806952" cy="243840"/>
            <a:chOff x="784860" y="1089660"/>
            <a:chExt cx="3806952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8069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Monorepo 四件套 —— 职责清晰、单向依赖、共享契约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85900"/>
            <a:ext cx="10972800" cy="876300"/>
            <a:chOff x="609600" y="1485900"/>
            <a:chExt cx="10972800" cy="876300"/>
          </a:xfrm>
        </p:grpSpPr>
        <p:sp>
          <p:nvSpPr>
            <p:cNvPr id="9" name="Rectangle 9"/>
            <p:cNvSpPr/>
            <p:nvPr/>
          </p:nvSpPr>
          <p:spPr>
            <a:xfrm>
              <a:off x="609600" y="14859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6573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423" y="18249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9245" y="1688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6865" y="203930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apps/web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5260" y="1775460"/>
              <a:ext cx="22227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Next.js 15 · 统一工作区 shell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6212" y="2031206"/>
              <a:ext cx="372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URL ?mode= 切换 info / document / tasks / timeline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020425" y="1778000"/>
              <a:ext cx="285750" cy="254000"/>
              <a:chOff x="11020425" y="1778000"/>
              <a:chExt cx="285750" cy="25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02042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4267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131550" y="177800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33" name="Group 33"/>
          <p:cNvGrpSpPr/>
          <p:nvPr/>
        </p:nvGrpSpPr>
        <p:grpSpPr>
          <a:xfrm>
            <a:off x="609600" y="2495550"/>
            <a:ext cx="10972800" cy="876300"/>
            <a:chOff x="609600" y="2495550"/>
            <a:chExt cx="109728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09600" y="24955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6670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423" y="28346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79245" y="26984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服务层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86865" y="3048952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apps/api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5260" y="2785110"/>
              <a:ext cx="2246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NestJS 11 · 全部业务逻辑所在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6212" y="3040856"/>
              <a:ext cx="3456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 / 版本 / 世界观 CRUD + AI 生成 provider 编排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1020425" y="2787650"/>
              <a:ext cx="285750" cy="254000"/>
              <a:chOff x="11020425" y="2787650"/>
              <a:chExt cx="285750" cy="254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1020425" y="2787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020425" y="2914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83925" y="285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83925" y="297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609600" y="3505200"/>
            <a:ext cx="10972800" cy="876300"/>
            <a:chOff x="609600" y="3505200"/>
            <a:chExt cx="10972800" cy="876300"/>
          </a:xfrm>
        </p:grpSpPr>
        <p:sp>
          <p:nvSpPr>
            <p:cNvPr id="34" name="Rectangle 34"/>
            <p:cNvSpPr/>
            <p:nvPr/>
          </p:nvSpPr>
          <p:spPr>
            <a:xfrm>
              <a:off x="609600" y="35052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" y="36766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3423" y="38442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79245" y="37080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6865" y="4058602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apps/worker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85260" y="3794760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约 100 行轮询循环 · 无业务逻辑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86212" y="4050506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通过 /internal/* 认领、执行、重试任务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1036300" y="3791175"/>
              <a:ext cx="254000" cy="266250"/>
              <a:chOff x="11036300" y="3791175"/>
              <a:chExt cx="254000" cy="266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036300" y="3791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254000" y="117250"/>
                    </a:moveTo>
                    <a:cubicBezTo>
                      <a:pt x="246019" y="59823"/>
                      <a:pt x="200594" y="14839"/>
                      <a:pt x="143092" y="7420"/>
                    </a:cubicBezTo>
                    <a:cubicBezTo>
                      <a:pt x="85590" y="0"/>
                      <a:pt x="30234" y="31980"/>
                      <a:pt x="7937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036300" y="3940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0"/>
                    </a:cubicBezTo>
                    <a:cubicBezTo>
                      <a:pt x="168410" y="117250"/>
                      <a:pt x="223766" y="85270"/>
                      <a:pt x="246062" y="31750"/>
                    </a:cubicBezTo>
                    <a:moveTo>
                      <a:pt x="254000" y="95250"/>
                    </a:moveTo>
                    <a:lnTo>
                      <a:pt x="254000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609600" y="4514850"/>
            <a:ext cx="10972800" cy="876300"/>
            <a:chOff x="609600" y="4514850"/>
            <a:chExt cx="10972800" cy="876300"/>
          </a:xfrm>
        </p:grpSpPr>
        <p:sp>
          <p:nvSpPr>
            <p:cNvPr id="45" name="Rectangle 45"/>
            <p:cNvSpPr/>
            <p:nvPr/>
          </p:nvSpPr>
          <p:spPr>
            <a:xfrm>
              <a:off x="609600" y="45148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" y="46863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3423" y="48539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79245" y="47177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契约层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86865" y="50682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85260" y="48044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跨栈领域类型与业务规则的唯一真相源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86212" y="5060156"/>
              <a:ext cx="3974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domain · api-contracts · business-rules · storyboard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1036300" y="4838700"/>
              <a:ext cx="254000" cy="190500"/>
              <a:chOff x="11036300" y="4838700"/>
              <a:chExt cx="254000" cy="190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036300" y="48387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36300" y="49657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543550"/>
            <a:ext cx="10972800" cy="762000"/>
            <a:chOff x="609600" y="5543550"/>
            <a:chExt cx="10972800" cy="762000"/>
          </a:xfrm>
        </p:grpSpPr>
        <p:sp>
          <p:nvSpPr>
            <p:cNvPr id="56" name="Rectangle 56"/>
            <p:cNvSpPr/>
            <p:nvPr/>
          </p:nvSpPr>
          <p:spPr>
            <a:xfrm>
              <a:off x="609600" y="5543550"/>
              <a:ext cx="10972800" cy="762000"/>
            </a:xfrm>
            <a:prstGeom prst="roundRect">
              <a:avLst>
                <a:gd name="adj" fmla="val 1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2965" y="5715952"/>
              <a:ext cx="19746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横切关注点 · CROSS-CUTTING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911225" y="5988844"/>
              <a:ext cx="1749046" cy="226218"/>
              <a:chOff x="911225" y="5988844"/>
              <a:chExt cx="1749046" cy="226218"/>
            </a:xfrm>
          </p:grpSpPr>
          <p:grpSp>
            <p:nvGrpSpPr>
              <p:cNvPr id="61" name="Group 61"/>
              <p:cNvGrpSpPr/>
              <p:nvPr/>
            </p:nvGrpSpPr>
            <p:grpSpPr>
              <a:xfrm>
                <a:off x="911225" y="5988844"/>
                <a:ext cx="139700" cy="157162"/>
                <a:chOff x="911225" y="5988844"/>
                <a:chExt cx="139700" cy="157162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11225" y="5988844"/>
                  <a:ext cx="139700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52388">
                      <a:moveTo>
                        <a:pt x="0" y="26194"/>
                      </a:moveTo>
                      <a:cubicBezTo>
                        <a:pt x="0" y="40660"/>
                        <a:pt x="31273" y="52388"/>
                        <a:pt x="69850" y="52388"/>
                      </a:cubicBezTo>
                      <a:cubicBezTo>
                        <a:pt x="108427" y="52388"/>
                        <a:pt x="139700" y="40660"/>
                        <a:pt x="139700" y="26194"/>
                      </a:cubicBezTo>
                      <a:cubicBezTo>
                        <a:pt x="139700" y="11727"/>
                        <a:pt x="108427" y="0"/>
                        <a:pt x="69850" y="0"/>
                      </a:cubicBezTo>
                      <a:cubicBezTo>
                        <a:pt x="31273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11225" y="6015038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11225" y="6067425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148715" y="6001702"/>
                <a:ext cx="15115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PostgreSQL + Prisma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663156" y="5988844"/>
              <a:ext cx="1313961" cy="226218"/>
              <a:chOff x="3663156" y="5988844"/>
              <a:chExt cx="1313961" cy="22621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663156" y="5988844"/>
                <a:ext cx="12223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57162">
                    <a:moveTo>
                      <a:pt x="69850" y="0"/>
                    </a:moveTo>
                    <a:lnTo>
                      <a:pt x="69850" y="61119"/>
                    </a:lnTo>
                    <a:lnTo>
                      <a:pt x="122238" y="61119"/>
                    </a:lnTo>
                    <a:lnTo>
                      <a:pt x="52388" y="157162"/>
                    </a:lnTo>
                    <a:lnTo>
                      <a:pt x="52388" y="96044"/>
                    </a:lnTo>
                    <a:lnTo>
                      <a:pt x="0" y="96044"/>
                    </a:ln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891915" y="6001702"/>
                <a:ext cx="10852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Socket.IO 实时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113462" y="6001702"/>
              <a:ext cx="1244593" cy="213360"/>
              <a:chOff x="6113462" y="6001702"/>
              <a:chExt cx="1244593" cy="2133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113462" y="6003600"/>
                <a:ext cx="174625" cy="116248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16248">
                    <a:moveTo>
                      <a:pt x="40661" y="116213"/>
                    </a:moveTo>
                    <a:cubicBezTo>
                      <a:pt x="18205" y="116213"/>
                      <a:pt x="0" y="98689"/>
                      <a:pt x="0" y="77071"/>
                    </a:cubicBezTo>
                    <a:cubicBezTo>
                      <a:pt x="0" y="55461"/>
                      <a:pt x="18205" y="37937"/>
                      <a:pt x="40661" y="37937"/>
                    </a:cubicBezTo>
                    <a:cubicBezTo>
                      <a:pt x="44093" y="22553"/>
                      <a:pt x="56325" y="9997"/>
                      <a:pt x="72749" y="4994"/>
                    </a:cubicBezTo>
                    <a:cubicBezTo>
                      <a:pt x="89164" y="0"/>
                      <a:pt x="107290" y="3309"/>
                      <a:pt x="120282" y="13726"/>
                    </a:cubicBezTo>
                    <a:cubicBezTo>
                      <a:pt x="133274" y="24116"/>
                      <a:pt x="139159" y="39980"/>
                      <a:pt x="135736" y="55365"/>
                    </a:cubicBezTo>
                    <a:lnTo>
                      <a:pt x="144380" y="55365"/>
                    </a:lnTo>
                    <a:cubicBezTo>
                      <a:pt x="161083" y="55365"/>
                      <a:pt x="174625" y="68986"/>
                      <a:pt x="174625" y="85802"/>
                    </a:cubicBezTo>
                    <a:cubicBezTo>
                      <a:pt x="174625" y="102627"/>
                      <a:pt x="161083" y="116248"/>
                      <a:pt x="144371" y="116248"/>
                    </a:cubicBezTo>
                    <a:lnTo>
                      <a:pt x="40661" y="116248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368415" y="6001702"/>
                <a:ext cx="9896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本地 + S3 存储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616156" y="5988844"/>
              <a:ext cx="1108136" cy="226218"/>
              <a:chOff x="8616156" y="5988844"/>
              <a:chExt cx="1108136" cy="226218"/>
            </a:xfrm>
          </p:grpSpPr>
          <p:grpSp>
            <p:nvGrpSpPr>
              <p:cNvPr id="72" name="Group 72"/>
              <p:cNvGrpSpPr/>
              <p:nvPr/>
            </p:nvGrpSpPr>
            <p:grpSpPr>
              <a:xfrm>
                <a:off x="8616156" y="5988844"/>
                <a:ext cx="139700" cy="165894"/>
                <a:chOff x="8616156" y="5988844"/>
                <a:chExt cx="139700" cy="165894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694738" y="59888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616156" y="5988844"/>
                  <a:ext cx="139700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65894">
                      <a:moveTo>
                        <a:pt x="56753" y="157162"/>
                      </a:moveTo>
                      <a:lnTo>
                        <a:pt x="17462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3"/>
                      </a:lnTo>
                      <a:cubicBezTo>
                        <a:pt x="0" y="7818"/>
                        <a:pt x="7818" y="0"/>
                        <a:pt x="17462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87312"/>
                      </a:lnTo>
                      <a:moveTo>
                        <a:pt x="78581" y="139700"/>
                      </a:moveTo>
                      <a:lnTo>
                        <a:pt x="139700" y="139700"/>
                      </a:lnTo>
                      <a:moveTo>
                        <a:pt x="113506" y="113506"/>
                      </a:moveTo>
                      <a:lnTo>
                        <a:pt x="139700" y="139700"/>
                      </a:lnTo>
                      <a:lnTo>
                        <a:pt x="113506" y="165894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8844915" y="600170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FFmpeg 导出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97218" y="6657499"/>
            <a:ext cx="10997564" cy="198120"/>
            <a:chOff x="597218" y="6657499"/>
            <a:chExt cx="10997564" cy="198120"/>
          </a:xfrm>
        </p:grpSpPr>
        <p:sp>
          <p:nvSpPr>
            <p:cNvPr id="76" name="TextBox 76"/>
            <p:cNvSpPr txBox="1"/>
            <p:nvPr/>
          </p:nvSpPr>
          <p:spPr>
            <a:xfrm>
              <a:off x="597218" y="665749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34463" y="66574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4" grpId="0"/>
      <p:bldP spid="55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0155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生成能力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61977" y="762952"/>
              <a:ext cx="733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AI PIPELINE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74923" cy="243840"/>
            <a:chOff x="784860" y="1089660"/>
            <a:chExt cx="3574923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74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端到端 AI 生产链 —— 每阶段产出可复用的中间产物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524000"/>
            <a:ext cx="1905000" cy="4000500"/>
            <a:chOff x="609600" y="1524000"/>
            <a:chExt cx="1905000" cy="40005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96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49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68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文本生成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109788" y="1728788"/>
              <a:ext cx="188912" cy="177800"/>
              <a:chOff x="2109788" y="1728788"/>
              <a:chExt cx="188912" cy="177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254250" y="1728788"/>
                <a:ext cx="444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77800">
                    <a:moveTo>
                      <a:pt x="44450" y="155575"/>
                    </a:moveTo>
                    <a:lnTo>
                      <a:pt x="44450" y="22225"/>
                    </a:lnTo>
                    <a:cubicBezTo>
                      <a:pt x="44450" y="9768"/>
                      <a:pt x="34682" y="0"/>
                      <a:pt x="22225" y="0"/>
                    </a:cubicBezTo>
                    <a:cubicBezTo>
                      <a:pt x="9768" y="0"/>
                      <a:pt x="0" y="9768"/>
                      <a:pt x="0" y="22225"/>
                    </a:cubicBezTo>
                    <a:lnTo>
                      <a:pt x="0" y="155575"/>
                    </a:lnTo>
                    <a:lnTo>
                      <a:pt x="22225" y="177800"/>
                    </a:lnTo>
                    <a:lnTo>
                      <a:pt x="44450" y="155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54250" y="1773238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109788" y="1817688"/>
                <a:ext cx="1666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8900">
                    <a:moveTo>
                      <a:pt x="166688" y="88900"/>
                    </a:move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cubicBezTo>
                      <a:pt x="0" y="54400"/>
                      <a:pt x="9950" y="44450"/>
                      <a:pt x="22225" y="44450"/>
                    </a:cubicBezTo>
                    <a:lnTo>
                      <a:pt x="66675" y="44450"/>
                    </a:lnTo>
                    <a:cubicBezTo>
                      <a:pt x="78950" y="44450"/>
                      <a:pt x="88900" y="34500"/>
                      <a:pt x="88900" y="22225"/>
                    </a:cubicBezTo>
                    <a:cubicBezTo>
                      <a:pt x="88900" y="9950"/>
                      <a:pt x="78950" y="0"/>
                      <a:pt x="66675" y="0"/>
                    </a:cubicBez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6096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494" y="2160270"/>
              <a:ext cx="12452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4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968" y="2599849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剧本 / 梗概 / 分镜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24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296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改写与重生成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2968" y="3323749"/>
              <a:ext cx="953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维度追踪 brief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429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733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213" y="4243864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剧本 · 梗概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876550" y="1524000"/>
            <a:ext cx="1905000" cy="4000500"/>
            <a:chOff x="2876550" y="1524000"/>
            <a:chExt cx="19050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28765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8765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099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518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9375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4376738" y="1728788"/>
              <a:ext cx="200025" cy="200025"/>
              <a:chOff x="4376738" y="1728788"/>
              <a:chExt cx="200025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10088" y="178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76738" y="1728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66688"/>
                    </a:lnTo>
                    <a:cubicBezTo>
                      <a:pt x="200025" y="185099"/>
                      <a:pt x="185099" y="200025"/>
                      <a:pt x="166688" y="200025"/>
                    </a:cubicBezTo>
                    <a:lnTo>
                      <a:pt x="33338" y="200025"/>
                    </a:lnTo>
                    <a:cubicBezTo>
                      <a:pt x="14926" y="200025"/>
                      <a:pt x="0" y="185099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376738" y="180776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2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498975" y="182998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28765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3012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194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49918" y="25998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Gemini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194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9918" y="2961799"/>
              <a:ext cx="584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SD WebUI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0194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49918" y="3323749"/>
              <a:ext cx="5435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ComfyUI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0099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0099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402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45074" y="42438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镜头图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43500" y="1524000"/>
            <a:ext cx="1905000" cy="4000500"/>
            <a:chOff x="5143500" y="1524000"/>
            <a:chExt cx="1905000" cy="4000500"/>
          </a:xfrm>
        </p:grpSpPr>
        <p:sp>
          <p:nvSpPr>
            <p:cNvPr id="54" name="Rectangle 54"/>
            <p:cNvSpPr/>
            <p:nvPr/>
          </p:nvSpPr>
          <p:spPr>
            <a:xfrm>
              <a:off x="51435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1435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2768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188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607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643688" y="1762125"/>
              <a:ext cx="200025" cy="133350"/>
              <a:chOff x="6643688" y="1762125"/>
              <a:chExt cx="200025" cy="1333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777038" y="1779562"/>
                <a:ext cx="66675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476">
                    <a:moveTo>
                      <a:pt x="0" y="27013"/>
                    </a:moveTo>
                    <a:lnTo>
                      <a:pt x="50595" y="1721"/>
                    </a:lnTo>
                    <a:cubicBezTo>
                      <a:pt x="54039" y="0"/>
                      <a:pt x="58128" y="184"/>
                      <a:pt x="61403" y="2208"/>
                    </a:cubicBezTo>
                    <a:cubicBezTo>
                      <a:pt x="64678" y="4231"/>
                      <a:pt x="66673" y="7806"/>
                      <a:pt x="66675" y="11655"/>
                    </a:cubicBezTo>
                    <a:lnTo>
                      <a:pt x="66675" y="86820"/>
                    </a:lnTo>
                    <a:cubicBezTo>
                      <a:pt x="66673" y="90670"/>
                      <a:pt x="64678" y="94245"/>
                      <a:pt x="61403" y="96268"/>
                    </a:cubicBezTo>
                    <a:cubicBezTo>
                      <a:pt x="58128" y="98292"/>
                      <a:pt x="54039" y="98476"/>
                      <a:pt x="50595" y="96755"/>
                    </a:cubicBezTo>
                    <a:lnTo>
                      <a:pt x="0" y="71463"/>
                    </a:lnTo>
                    <a:lnTo>
                      <a:pt x="0" y="2701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43688" y="1762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2" name="Rectangle 62"/>
            <p:cNvSpPr/>
            <p:nvPr/>
          </p:nvSpPr>
          <p:spPr>
            <a:xfrm>
              <a:off x="51435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707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2863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16868" y="2599849"/>
              <a:ext cx="10827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多 provider 支持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2863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416868" y="296179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Grok 等模型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863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6868" y="3323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批量状态跟踪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52768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2768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7072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2276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镜头视频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410450" y="1524000"/>
            <a:ext cx="1905000" cy="4000500"/>
            <a:chOff x="7410450" y="1524000"/>
            <a:chExt cx="1905000" cy="4000500"/>
          </a:xfrm>
        </p:grpSpPr>
        <p:sp>
          <p:nvSpPr>
            <p:cNvPr id="75" name="Rectangle 75"/>
            <p:cNvSpPr/>
            <p:nvPr/>
          </p:nvSpPr>
          <p:spPr>
            <a:xfrm>
              <a:off x="74104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4104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438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857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27658" y="1719739"/>
              <a:ext cx="7375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8932862" y="1717675"/>
              <a:ext cx="155575" cy="220662"/>
              <a:chOff x="8932862" y="1717675"/>
              <a:chExt cx="155575" cy="220662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977312" y="1717675"/>
                <a:ext cx="6667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22237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88900"/>
                    </a:lnTo>
                    <a:cubicBezTo>
                      <a:pt x="66675" y="107312"/>
                      <a:pt x="51749" y="122237"/>
                      <a:pt x="33338" y="122237"/>
                    </a:cubicBezTo>
                    <a:cubicBezTo>
                      <a:pt x="14926" y="122237"/>
                      <a:pt x="0" y="107312"/>
                      <a:pt x="0" y="88900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932862" y="1806575"/>
                <a:ext cx="1555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77788">
                    <a:moveTo>
                      <a:pt x="0" y="0"/>
                    </a:moveTo>
                    <a:cubicBezTo>
                      <a:pt x="0" y="42961"/>
                      <a:pt x="34827" y="77788"/>
                      <a:pt x="77787" y="77788"/>
                    </a:cubicBezTo>
                    <a:cubicBezTo>
                      <a:pt x="120748" y="77788"/>
                      <a:pt x="155575" y="42961"/>
                      <a:pt x="155575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66200" y="192881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010650" y="18843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5" name="Rectangle 85"/>
            <p:cNvSpPr/>
            <p:nvPr/>
          </p:nvSpPr>
          <p:spPr>
            <a:xfrm>
              <a:off x="74104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901014" y="2160270"/>
              <a:ext cx="923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按场景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5533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83818" y="25998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角色语音生成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5533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68381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字幕同步预览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5533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83818" y="33237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按场景批量合成</a:t>
              </a:r>
            </a:p>
          </p:txBody>
        </p:sp>
        <p:sp>
          <p:nvSpPr>
            <p:cNvPr id="93" name="Line 93"/>
            <p:cNvSpPr/>
            <p:nvPr/>
          </p:nvSpPr>
          <p:spPr>
            <a:xfrm>
              <a:off x="75438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5438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741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8971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角色配音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677400" y="1524000"/>
            <a:ext cx="1905000" cy="4000500"/>
            <a:chOff x="9677400" y="1524000"/>
            <a:chExt cx="1905000" cy="4000500"/>
          </a:xfrm>
        </p:grpSpPr>
        <p:sp>
          <p:nvSpPr>
            <p:cNvPr id="98" name="Rectangle 98"/>
            <p:cNvSpPr/>
            <p:nvPr/>
          </p:nvSpPr>
          <p:spPr>
            <a:xfrm>
              <a:off x="96774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6774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8107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527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1946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合成导出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1199812" y="1728788"/>
              <a:ext cx="177800" cy="211137"/>
              <a:chOff x="11199812" y="1728788"/>
              <a:chExt cx="177800" cy="211137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11299825" y="17287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11199812" y="1728788"/>
                <a:ext cx="177800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11137">
                    <a:moveTo>
                      <a:pt x="72231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2" y="0"/>
                    </a:lnTo>
                    <a:lnTo>
                      <a:pt x="155575" y="55563"/>
                    </a:lnTo>
                    <a:lnTo>
                      <a:pt x="155575" y="111125"/>
                    </a:lnTo>
                    <a:moveTo>
                      <a:pt x="100012" y="177800"/>
                    </a:moveTo>
                    <a:lnTo>
                      <a:pt x="177800" y="177800"/>
                    </a:lnTo>
                    <a:moveTo>
                      <a:pt x="144463" y="144462"/>
                    </a:moveTo>
                    <a:lnTo>
                      <a:pt x="177800" y="177800"/>
                    </a:lnTo>
                    <a:lnTo>
                      <a:pt x="144463" y="21113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6" name="Rectangle 106"/>
            <p:cNvSpPr/>
            <p:nvPr/>
          </p:nvSpPr>
          <p:spPr>
            <a:xfrm>
              <a:off x="9677400" y="2057400"/>
              <a:ext cx="1905000" cy="304800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0303431" y="2160270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时间线组装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820275" y="26384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950768" y="25998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自动组装时间线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820275" y="30003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950768" y="2961799"/>
              <a:ext cx="8165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FFmpeg 合成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820275" y="33623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950768" y="3323749"/>
              <a:ext cx="939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mock 导出回退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98107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8107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02411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435185" y="42438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成片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2695575" y="3409950"/>
            <a:ext cx="6953250" cy="228600"/>
            <a:chOff x="2695575" y="3409950"/>
            <a:chExt cx="6953250" cy="228600"/>
          </a:xfrm>
        </p:grpSpPr>
        <p:sp>
          <p:nvSpPr>
            <p:cNvPr id="119" name="Polygon 119"/>
            <p:cNvSpPr/>
            <p:nvPr/>
          </p:nvSpPr>
          <p:spPr>
            <a:xfrm>
              <a:off x="26955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0" name="Polygon 120"/>
            <p:cNvSpPr/>
            <p:nvPr/>
          </p:nvSpPr>
          <p:spPr>
            <a:xfrm>
              <a:off x="49625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1" name="Polygon 121"/>
            <p:cNvSpPr/>
            <p:nvPr/>
          </p:nvSpPr>
          <p:spPr>
            <a:xfrm>
              <a:off x="72294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2" name="Polygon 122"/>
            <p:cNvSpPr/>
            <p:nvPr/>
          </p:nvSpPr>
          <p:spPr>
            <a:xfrm>
              <a:off x="94964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4139922" y="5944552"/>
            <a:ext cx="3912156" cy="213360"/>
            <a:chOff x="4139922" y="5944552"/>
            <a:chExt cx="3912156" cy="213360"/>
          </a:xfrm>
        </p:grpSpPr>
        <p:sp>
          <p:nvSpPr>
            <p:cNvPr id="124" name="TextBox 124"/>
            <p:cNvSpPr txBox="1"/>
            <p:nvPr/>
          </p:nvSpPr>
          <p:spPr>
            <a:xfrm>
              <a:off x="4139922" y="5944552"/>
              <a:ext cx="3912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文本 → 图片 → 视频 → 配音 → 成片 · 每阶段产出物可被下游复用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126" name="TextBox 126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  <p:bldP spid="53" grpId="0"/>
      <p:bldP spid="74" grpId="0"/>
      <p:bldP spid="97" grpId="0"/>
      <p:bldP spid="118" grpId="0"/>
      <p:bldP spid="123" grpId="0"/>
      <p:bldP spid="1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创作工作流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VERSION LIFECYCLE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6399276" cy="243840"/>
            <a:chOff x="784860" y="1089660"/>
            <a:chExt cx="6399276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63992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文档遵循 draft → submitted → pending_review → approved / rejected 的审阅生命周期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495550"/>
            <a:ext cx="1714500" cy="914400"/>
            <a:chOff x="762000" y="2495550"/>
            <a:chExt cx="1714500" cy="914400"/>
          </a:xfrm>
        </p:grpSpPr>
        <p:sp>
          <p:nvSpPr>
            <p:cNvPr id="9" name="Rectangle 9"/>
            <p:cNvSpPr/>
            <p:nvPr/>
          </p:nvSpPr>
          <p:spPr>
            <a:xfrm>
              <a:off x="762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1081" y="2802731"/>
              <a:ext cx="229394" cy="215900"/>
              <a:chOff x="1031081" y="2802731"/>
              <a:chExt cx="229394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06500" y="2802731"/>
                <a:ext cx="5397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0">
                    <a:moveTo>
                      <a:pt x="53975" y="188912"/>
                    </a:moveTo>
                    <a:lnTo>
                      <a:pt x="53975" y="26987"/>
                    </a:lnTo>
                    <a:cubicBezTo>
                      <a:pt x="53975" y="11861"/>
                      <a:pt x="42114" y="0"/>
                      <a:pt x="26987" y="0"/>
                    </a:cubicBezTo>
                    <a:cubicBezTo>
                      <a:pt x="11861" y="0"/>
                      <a:pt x="0" y="11861"/>
                      <a:pt x="0" y="26987"/>
                    </a:cubicBezTo>
                    <a:lnTo>
                      <a:pt x="0" y="188912"/>
                    </a:lnTo>
                    <a:lnTo>
                      <a:pt x="26987" y="215900"/>
                    </a:lnTo>
                    <a:lnTo>
                      <a:pt x="53975" y="1889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06500" y="2856706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2910681"/>
                <a:ext cx="20240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07950">
                    <a:moveTo>
                      <a:pt x="202406" y="107950"/>
                    </a:moveTo>
                    <a:lnTo>
                      <a:pt x="26987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cubicBezTo>
                      <a:pt x="0" y="66058"/>
                      <a:pt x="12083" y="53975"/>
                      <a:pt x="26987" y="53975"/>
                    </a:cubicBezTo>
                    <a:lnTo>
                      <a:pt x="80962" y="53975"/>
                    </a:lnTo>
                    <a:cubicBezTo>
                      <a:pt x="95867" y="53975"/>
                      <a:pt x="107950" y="41892"/>
                      <a:pt x="107950" y="26988"/>
                    </a:cubicBezTo>
                    <a:cubicBezTo>
                      <a:pt x="107950" y="12083"/>
                      <a:pt x="95867" y="0"/>
                      <a:pt x="80962" y="0"/>
                    </a:cubicBezTo>
                    <a:lnTo>
                      <a:pt x="4048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0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草稿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99222" y="3035141"/>
              <a:ext cx="3386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DRAFT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48000" y="2495550"/>
            <a:ext cx="1714500" cy="914400"/>
            <a:chOff x="3048000" y="2495550"/>
            <a:chExt cx="1714500" cy="914400"/>
          </a:xfrm>
        </p:grpSpPr>
        <p:sp>
          <p:nvSpPr>
            <p:cNvPr id="17" name="Rectangle 17"/>
            <p:cNvSpPr/>
            <p:nvPr/>
          </p:nvSpPr>
          <p:spPr>
            <a:xfrm>
              <a:off x="3048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44069" y="2856706"/>
              <a:ext cx="202406" cy="134937"/>
            </a:xfrm>
            <a:custGeom>
              <a:avLst/>
              <a:gdLst/>
              <a:ahLst/>
              <a:cxnLst/>
              <a:rect l="l" t="t" r="r" b="b"/>
              <a:pathLst>
                <a:path w="202406" h="134937">
                  <a:moveTo>
                    <a:pt x="0" y="67469"/>
                  </a:moveTo>
                  <a:lnTo>
                    <a:pt x="67469" y="134937"/>
                  </a:lnTo>
                  <a:lnTo>
                    <a:pt x="202406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76650" y="27336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已提交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5222" y="3035141"/>
              <a:ext cx="586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EF2FF"/>
                  </a:solidFill>
                  <a:latin typeface="Segoe UI"/>
                  <a:ea typeface="Microsoft YaHei"/>
                  <a:cs typeface="Segoe UI"/>
                </a:rPr>
                <a:t>SUBMITTED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0" y="2495550"/>
            <a:ext cx="1714500" cy="914400"/>
            <a:chOff x="5334000" y="2495550"/>
            <a:chExt cx="1714500" cy="914400"/>
          </a:xfrm>
        </p:grpSpPr>
        <p:sp>
          <p:nvSpPr>
            <p:cNvPr id="22" name="Rectangle 22"/>
            <p:cNvSpPr/>
            <p:nvPr/>
          </p:nvSpPr>
          <p:spPr>
            <a:xfrm>
              <a:off x="5334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06B6D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603081" y="2802731"/>
              <a:ext cx="242888" cy="242887"/>
              <a:chOff x="5603081" y="2802731"/>
              <a:chExt cx="242888" cy="2428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630069" y="28027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603081" y="296465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78500" y="280448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05488" y="296668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96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待审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1222" y="3035141"/>
              <a:ext cx="8468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EFF"/>
                  </a:solidFill>
                  <a:latin typeface="Segoe UI"/>
                  <a:ea typeface="Microsoft YaHei"/>
                  <a:cs typeface="Segoe UI"/>
                </a:rPr>
                <a:t>PENDING REVIEW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0" y="2495550"/>
            <a:ext cx="1714500" cy="914400"/>
            <a:chOff x="9144000" y="2495550"/>
            <a:chExt cx="1714500" cy="914400"/>
          </a:xfrm>
        </p:grpSpPr>
        <p:sp>
          <p:nvSpPr>
            <p:cNvPr id="31" name="Rectangle 31"/>
            <p:cNvSpPr/>
            <p:nvPr/>
          </p:nvSpPr>
          <p:spPr>
            <a:xfrm>
              <a:off x="9144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413081" y="2802731"/>
              <a:ext cx="242888" cy="242888"/>
              <a:chOff x="9413081" y="2802731"/>
              <a:chExt cx="242888" cy="2428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413081" y="28027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5"/>
                      <a:pt x="54372" y="242888"/>
                      <a:pt x="121444" y="242888"/>
                    </a:cubicBezTo>
                    <a:cubicBezTo>
                      <a:pt x="188515" y="242888"/>
                      <a:pt x="242888" y="188515"/>
                      <a:pt x="242888" y="121444"/>
                    </a:cubicBezTo>
                    <a:cubicBezTo>
                      <a:pt x="242888" y="54372"/>
                      <a:pt x="188515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494044" y="2897188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77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81222" y="3035141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DF5"/>
                  </a:solidFill>
                  <a:latin typeface="Segoe UI"/>
                  <a:ea typeface="Microsoft YaHei"/>
                  <a:cs typeface="Segoe UI"/>
                </a:rPr>
                <a:t>APPROVED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4191000"/>
            <a:ext cx="1714500" cy="914400"/>
            <a:chOff x="5334000" y="4191000"/>
            <a:chExt cx="1714500" cy="914400"/>
          </a:xfrm>
        </p:grpSpPr>
        <p:sp>
          <p:nvSpPr>
            <p:cNvPr id="38" name="Rectangle 38"/>
            <p:cNvSpPr/>
            <p:nvPr/>
          </p:nvSpPr>
          <p:spPr>
            <a:xfrm>
              <a:off x="5334000" y="419100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9050">
              <a:solidFill>
                <a:srgbClr val="EF444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616575" y="4506469"/>
              <a:ext cx="215900" cy="226313"/>
              <a:chOff x="5616575" y="4506469"/>
              <a:chExt cx="215900" cy="22631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616575" y="450646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215900" y="99663"/>
                    </a:moveTo>
                    <a:cubicBezTo>
                      <a:pt x="209116" y="50849"/>
                      <a:pt x="170505" y="12613"/>
                      <a:pt x="121628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616575" y="463311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3" y="26987"/>
                    </a:cubicBezTo>
                    <a:moveTo>
                      <a:pt x="215900" y="80962"/>
                    </a:moveTo>
                    <a:lnTo>
                      <a:pt x="215900" y="26987"/>
                    </a:lnTo>
                    <a:lnTo>
                      <a:pt x="161925" y="26987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62650" y="4429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71222" y="4730591"/>
              <a:ext cx="5292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REJECTED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9250" y="2743200"/>
            <a:ext cx="7448550" cy="2038350"/>
            <a:chOff x="1619250" y="2743200"/>
            <a:chExt cx="7448550" cy="2038350"/>
          </a:xfrm>
        </p:grpSpPr>
        <p:sp>
          <p:nvSpPr>
            <p:cNvPr id="45" name="Line 45"/>
            <p:cNvSpPr/>
            <p:nvPr/>
          </p:nvSpPr>
          <p:spPr>
            <a:xfrm>
              <a:off x="2495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4781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7067550" y="2952750"/>
              <a:ext cx="2000250" cy="1"/>
            </a:xfrm>
            <a:prstGeom prst="line">
              <a:avLst/>
            </a:prstGeom>
            <a:noFill/>
            <a:ln w="23812">
              <a:solidFill>
                <a:srgbClr val="10B981"/>
              </a:solidFill>
              <a:tailEnd type="triangle" w="lg" len="lg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10500" y="274320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30229" y="279844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191250" y="3429000"/>
              <a:ext cx="1" cy="685800"/>
            </a:xfrm>
            <a:prstGeom prst="line">
              <a:avLst/>
            </a:prstGeom>
            <a:noFill/>
            <a:ln w="23812">
              <a:solidFill>
                <a:srgbClr val="EF4444"/>
              </a:solidFill>
              <a:tailEnd type="triangle" w="lg" len="lg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34075" y="363855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53804" y="369379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619250" y="3429000"/>
              <a:ext cx="3714750" cy="1219200"/>
            </a:xfrm>
            <a:custGeom>
              <a:avLst/>
              <a:gdLst/>
              <a:ahLst/>
              <a:cxnLst/>
              <a:rect l="l" t="t" r="r" b="b"/>
              <a:pathLst>
                <a:path w="3714750" h="1219200">
                  <a:moveTo>
                    <a:pt x="3714750" y="1219200"/>
                  </a:moveTo>
                  <a:lnTo>
                    <a:pt x="0" y="121920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EF4444"/>
              </a:solidFill>
              <a:custDash>
                <a:ds d="320000" sp="200000"/>
              </a:custDash>
              <a:tailEnd type="triangle" w="lg" len="lg"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28950" y="4543425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222689" y="45986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重新修改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410200"/>
            <a:ext cx="10972800" cy="838200"/>
            <a:chOff x="609600" y="5410200"/>
            <a:chExt cx="10972800" cy="838200"/>
          </a:xfrm>
        </p:grpSpPr>
        <p:sp>
          <p:nvSpPr>
            <p:cNvPr id="57" name="Rectangle 57"/>
            <p:cNvSpPr/>
            <p:nvPr/>
          </p:nvSpPr>
          <p:spPr>
            <a:xfrm>
              <a:off x="609600" y="5410200"/>
              <a:ext cx="109728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925" y="5650706"/>
              <a:ext cx="1496402" cy="442913"/>
              <a:chOff x="923925" y="5650706"/>
              <a:chExt cx="1496402" cy="442913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923925" y="5748338"/>
                <a:ext cx="190500" cy="142875"/>
                <a:chOff x="923925" y="5748338"/>
                <a:chExt cx="190500" cy="14287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23925" y="5748338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95250" y="0"/>
                      </a:moveTo>
                      <a:lnTo>
                        <a:pt x="0" y="47625"/>
                      </a:lnTo>
                      <a:lnTo>
                        <a:pt x="95250" y="95250"/>
                      </a:lnTo>
                      <a:lnTo>
                        <a:pt x="190500" y="4762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23925" y="5843588"/>
                  <a:ext cx="190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47625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2430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规则集中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244918" y="5895499"/>
                <a:ext cx="11754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business-rules.ts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409575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4429125" y="5650706"/>
              <a:ext cx="1684925" cy="442913"/>
              <a:chOff x="4429125" y="5650706"/>
              <a:chExt cx="1684925" cy="442913"/>
            </a:xfrm>
          </p:grpSpPr>
          <p:grpSp>
            <p:nvGrpSpPr>
              <p:cNvPr id="67" name="Group 67"/>
              <p:cNvGrpSpPr/>
              <p:nvPr/>
            </p:nvGrpSpPr>
            <p:grpSpPr>
              <a:xfrm>
                <a:off x="4429125" y="5719931"/>
                <a:ext cx="190500" cy="199688"/>
                <a:chOff x="4429125" y="5719931"/>
                <a:chExt cx="190500" cy="199688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4429125" y="571993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190500" y="87938"/>
                      </a:moveTo>
                      <a:cubicBezTo>
                        <a:pt x="184514" y="44867"/>
                        <a:pt x="150446" y="11129"/>
                        <a:pt x="107319" y="5565"/>
                      </a:cubicBezTo>
                      <a:cubicBezTo>
                        <a:pt x="64192" y="0"/>
                        <a:pt x="22676" y="23985"/>
                        <a:pt x="5953" y="64125"/>
                      </a:cubicBezTo>
                      <a:moveTo>
                        <a:pt x="0" y="16500"/>
                      </a:moveTo>
                      <a:lnTo>
                        <a:pt x="0" y="64125"/>
                      </a:lnTo>
                      <a:lnTo>
                        <a:pt x="47625" y="64125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429125" y="583168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0" y="0"/>
                      </a:moveTo>
                      <a:cubicBezTo>
                        <a:pt x="5986" y="43070"/>
                        <a:pt x="40054" y="76808"/>
                        <a:pt x="83181" y="82373"/>
                      </a:cubicBezTo>
                      <a:cubicBezTo>
                        <a:pt x="126308" y="87938"/>
                        <a:pt x="167824" y="63953"/>
                        <a:pt x="184547" y="23812"/>
                      </a:cubicBezTo>
                      <a:moveTo>
                        <a:pt x="190500" y="71438"/>
                      </a:moveTo>
                      <a:lnTo>
                        <a:pt x="190500" y="23812"/>
                      </a:lnTo>
                      <a:lnTo>
                        <a:pt x="142875" y="23812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47482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版本管理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750118" y="58954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采纳 · 还原 · 差异对比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781050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155781" y="5650706"/>
              <a:ext cx="2401110" cy="442913"/>
              <a:chOff x="8155781" y="5650706"/>
              <a:chExt cx="2401110" cy="44291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55781" y="57126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95250" y="0"/>
                    </a:moveTo>
                    <a:lnTo>
                      <a:pt x="95250" y="83344"/>
                    </a:lnTo>
                    <a:lnTo>
                      <a:pt x="166688" y="83344"/>
                    </a:lnTo>
                    <a:lnTo>
                      <a:pt x="71438" y="214312"/>
                    </a:lnTo>
                    <a:lnTo>
                      <a:pt x="71438" y="130969"/>
                    </a:lnTo>
                    <a:lnTo>
                      <a:pt x="0" y="130969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6296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实时同步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64868" y="589549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↔ 世界观角色 WebSocket 双向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7" name="TextBox 7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1" grpId="0"/>
      <p:bldP spid="30" grpId="0"/>
      <p:bldP spid="37" grpId="0"/>
      <p:bldP spid="44" grpId="0"/>
      <p:bldP spid="56" grpId="0"/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工作区与协作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WORKSPACE MODES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8861" cy="243840"/>
            <a:chOff x="784860" y="1089660"/>
            <a:chExt cx="3078861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88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统一工作区通过 URL </a:t>
              </a:r>
              <a:r>
                <a:rPr lang="zh-CN" sz="120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?mode=</a:t>
              </a:r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 切换四种模式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524000"/>
            <a:ext cx="5372100" cy="2286000"/>
            <a:chOff x="609600" y="1524000"/>
            <a:chExt cx="5372100" cy="2286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26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96495" y="1683068"/>
              <a:ext cx="9983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信息 · info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668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190625" y="2562225"/>
              <a:ext cx="285750" cy="285750"/>
              <a:chOff x="1190625" y="2562225"/>
              <a:chExt cx="28575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90625" y="25622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33500" y="2657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17625" y="2705100"/>
                <a:ext cx="317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63500">
                    <a:moveTo>
                      <a:pt x="0" y="0"/>
                    </a:moveTo>
                    <a:lnTo>
                      <a:pt x="15875" y="0"/>
                    </a:lnTo>
                    <a:lnTo>
                      <a:pt x="15875" y="63500"/>
                    </a:lnTo>
                    <a:lnTo>
                      <a:pt x="3175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731645" y="25079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项目信息面板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1170" y="2817495"/>
              <a:ext cx="659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INFO MODE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2512" y="317420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项目概览 · 配置 · 成员管理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25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查看元信息与审阅策略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524000"/>
            <a:ext cx="5372100" cy="2286000"/>
            <a:chOff x="6210300" y="1524000"/>
            <a:chExt cx="53721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2103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7533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46738" y="1683068"/>
              <a:ext cx="1499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 · document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389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23075" y="2562225"/>
              <a:ext cx="222250" cy="285750"/>
              <a:chOff x="6823075" y="2562225"/>
              <a:chExt cx="222250" cy="2857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65950" y="25622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23075" y="256222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886575" y="26574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86575" y="27209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86575" y="27844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332345" y="25079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文档主模式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1870" y="2817495"/>
              <a:ext cx="9931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DOCUMENT MODE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3212" y="31742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 · 编辑 · 生成 · 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32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世界观与媒体映射于此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962400"/>
            <a:ext cx="5372100" cy="2286000"/>
            <a:chOff x="609600" y="3962400"/>
            <a:chExt cx="5372100" cy="2286000"/>
          </a:xfrm>
        </p:grpSpPr>
        <p:sp>
          <p:nvSpPr>
            <p:cNvPr id="39" name="Rectangle 39"/>
            <p:cNvSpPr/>
            <p:nvPr/>
          </p:nvSpPr>
          <p:spPr>
            <a:xfrm>
              <a:off x="6096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1526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20885" y="412146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任务 · tasks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82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668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198562" y="5024438"/>
              <a:ext cx="261938" cy="230187"/>
              <a:chOff x="1198562" y="5024438"/>
              <a:chExt cx="261938" cy="2301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98562" y="50244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98562" y="511968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98562" y="52149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17625" y="50482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317625" y="51435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317625" y="5238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731645" y="49463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任务面板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41170" y="5255895"/>
              <a:ext cx="7348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TASKS MODE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2512" y="56126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生成任务跟踪与状态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2512" y="58412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批量作业与重试管理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10300" y="3962400"/>
            <a:ext cx="5372100" cy="2286000"/>
            <a:chOff x="6210300" y="3962400"/>
            <a:chExt cx="5372100" cy="2286000"/>
          </a:xfrm>
        </p:grpSpPr>
        <p:sp>
          <p:nvSpPr>
            <p:cNvPr id="56" name="Rectangle 56"/>
            <p:cNvSpPr/>
            <p:nvPr/>
          </p:nvSpPr>
          <p:spPr>
            <a:xfrm>
              <a:off x="62103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7533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23111" y="41214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时间线 · timeline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91325" y="5064125"/>
              <a:ext cx="285750" cy="158750"/>
              <a:chOff x="6791325" y="5064125"/>
              <a:chExt cx="285750" cy="1587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807200" y="50800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127000"/>
                    </a:moveTo>
                    <a:lnTo>
                      <a:pt x="95250" y="15875"/>
                    </a:lnTo>
                    <a:lnTo>
                      <a:pt x="174625" y="9525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65950" y="51593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86575" y="50800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91325" y="5191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45325" y="5064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332345" y="4946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时间线编辑器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41870" y="525589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TIMELINE MODE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3212" y="56126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自动组装 · 拖拽编辑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3212" y="5841206"/>
              <a:ext cx="19413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导出提交与 WebSocket 轮询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2" name="TextBox 72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38" grpId="0"/>
      <p:bldP spid="55" grpId="0"/>
      <p:bldP spid="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190500"/>
            <a:ext cx="10953750" cy="6572250"/>
            <a:chOff x="476250" y="190500"/>
            <a:chExt cx="10953750" cy="6572250"/>
          </a:xfrm>
        </p:grpSpPr>
        <p:sp>
          <p:nvSpPr>
            <p:cNvPr id="3" name="Ellipse 3"/>
            <p:cNvSpPr/>
            <p:nvPr/>
          </p:nvSpPr>
          <p:spPr>
            <a:xfrm>
              <a:off x="9525000" y="190500"/>
              <a:ext cx="1905000" cy="1905000"/>
            </a:xfrm>
            <a:prstGeom prst="ellipse">
              <a:avLst/>
            </a:prstGeom>
            <a:solidFill>
              <a:srgbClr val="10B981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76250" y="46672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项目状态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02944" y="7629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CURRENT STATE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2955" y="1378268"/>
            <a:ext cx="5200936" cy="274320"/>
            <a:chOff x="782955" y="1378268"/>
            <a:chExt cx="5200936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782955" y="1378268"/>
              <a:ext cx="5200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开发就绪 —— 关键能力已落地，部分基础设施面向未来产品化演进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3494" y="2157412"/>
            <a:ext cx="1877770" cy="609600"/>
            <a:chOff x="1283494" y="2157412"/>
            <a:chExt cx="1877770" cy="609600"/>
          </a:xfrm>
        </p:grpSpPr>
        <p:grpSp>
          <p:nvGrpSpPr>
            <p:cNvPr id="14" name="Group 14"/>
            <p:cNvGrpSpPr/>
            <p:nvPr/>
          </p:nvGrpSpPr>
          <p:grpSpPr>
            <a:xfrm>
              <a:off x="1283494" y="2197894"/>
              <a:ext cx="271462" cy="271462"/>
              <a:chOff x="1283494" y="2197894"/>
              <a:chExt cx="271462" cy="27146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834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73981" y="2303462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6859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已就绪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1165" y="2553652"/>
              <a:ext cx="1460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READY · 5 项关键能力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3975" y="3151346"/>
            <a:ext cx="2878740" cy="2346960"/>
            <a:chOff x="1323975" y="3151346"/>
            <a:chExt cx="2878740" cy="2346960"/>
          </a:xfrm>
        </p:grpSpPr>
        <p:grpSp>
          <p:nvGrpSpPr>
            <p:cNvPr id="20" name="Group 20"/>
            <p:cNvGrpSpPr/>
            <p:nvPr/>
          </p:nvGrpSpPr>
          <p:grpSpPr>
            <a:xfrm>
              <a:off x="1323975" y="3151346"/>
              <a:ext cx="2878740" cy="289560"/>
              <a:chOff x="1323975" y="3151346"/>
              <a:chExt cx="2878740" cy="289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323975" y="31908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620202" y="3151346"/>
                <a:ext cx="2582513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PostgreSQL + Prisma 持久化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323975" y="3665696"/>
              <a:ext cx="2061638" cy="289560"/>
              <a:chOff x="1323975" y="3665696"/>
              <a:chExt cx="2061638" cy="289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323975" y="37052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20202" y="3665696"/>
                <a:ext cx="176541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轮询 Worker 任务流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323975" y="4180046"/>
              <a:ext cx="2080641" cy="289560"/>
              <a:chOff x="1323975" y="4180046"/>
              <a:chExt cx="2080641" cy="289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323975" y="42195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20202" y="4180046"/>
                <a:ext cx="17844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Socket.IO 实时更新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23975" y="4694396"/>
              <a:ext cx="2669714" cy="289560"/>
              <a:chOff x="1323975" y="4694396"/>
              <a:chExt cx="2669714" cy="289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323975" y="47339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620202" y="4694396"/>
                <a:ext cx="2373487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provider 对接 + mock 回退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23975" y="5208746"/>
              <a:ext cx="1814607" cy="289560"/>
              <a:chOff x="1323975" y="5208746"/>
              <a:chExt cx="1814607" cy="289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323975" y="52482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620202" y="5208746"/>
                <a:ext cx="151838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FFmpeg 视频导出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096000" y="2152650"/>
            <a:ext cx="9525" cy="3429000"/>
            <a:chOff x="6096000" y="2152650"/>
            <a:chExt cx="9525" cy="3429000"/>
          </a:xfrm>
        </p:grpSpPr>
        <p:sp>
          <p:nvSpPr>
            <p:cNvPr id="34" name="Line 34"/>
            <p:cNvSpPr/>
            <p:nvPr/>
          </p:nvSpPr>
          <p:spPr>
            <a:xfrm>
              <a:off x="609600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807994" y="2157412"/>
            <a:ext cx="2061543" cy="609600"/>
            <a:chOff x="6807994" y="2157412"/>
            <a:chExt cx="2061543" cy="609600"/>
          </a:xfrm>
        </p:grpSpPr>
        <p:grpSp>
          <p:nvGrpSpPr>
            <p:cNvPr id="38" name="Group 38"/>
            <p:cNvGrpSpPr/>
            <p:nvPr/>
          </p:nvGrpSpPr>
          <p:grpSpPr>
            <a:xfrm>
              <a:off x="6807994" y="2197894"/>
              <a:ext cx="271462" cy="271462"/>
              <a:chOff x="6807994" y="2197894"/>
              <a:chExt cx="271462" cy="27146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079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43725" y="2258219"/>
                <a:ext cx="45244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120650">
                    <a:moveTo>
                      <a:pt x="0" y="0"/>
                    </a:moveTo>
                    <a:lnTo>
                      <a:pt x="0" y="75406"/>
                    </a:lnTo>
                    <a:lnTo>
                      <a:pt x="45244" y="1206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2104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规划中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5665" y="255365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PLANNED · 面向未来演进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29425" y="3179921"/>
            <a:ext cx="3168015" cy="1289685"/>
            <a:chOff x="6829425" y="3179921"/>
            <a:chExt cx="3168015" cy="1289685"/>
          </a:xfrm>
        </p:grpSpPr>
        <p:grpSp>
          <p:nvGrpSpPr>
            <p:cNvPr id="47" name="Group 47"/>
            <p:cNvGrpSpPr/>
            <p:nvPr/>
          </p:nvGrpSpPr>
          <p:grpSpPr>
            <a:xfrm>
              <a:off x="6829425" y="3179921"/>
              <a:ext cx="3168015" cy="508635"/>
              <a:chOff x="6829425" y="3179921"/>
              <a:chExt cx="3168015" cy="508635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829425" y="3248025"/>
                <a:ext cx="171450" cy="171450"/>
                <a:chOff x="6829425" y="3248025"/>
                <a:chExt cx="171450" cy="1714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829425" y="32480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915150" y="32861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7144702" y="3179921"/>
                <a:ext cx="215496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Redis / BullMQ 任务队列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148512" y="3459956"/>
                <a:ext cx="28489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替代当前轮询 worker，提升吞吐与可靠性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829425" y="3960971"/>
              <a:ext cx="2597943" cy="508635"/>
              <a:chOff x="6829425" y="3960971"/>
              <a:chExt cx="2597943" cy="508635"/>
            </a:xfrm>
          </p:grpSpPr>
          <p:grpSp>
            <p:nvGrpSpPr>
              <p:cNvPr id="50" name="Group 50"/>
              <p:cNvGrpSpPr/>
              <p:nvPr/>
            </p:nvGrpSpPr>
            <p:grpSpPr>
              <a:xfrm>
                <a:off x="6829425" y="4029075"/>
                <a:ext cx="171450" cy="171450"/>
                <a:chOff x="6829425" y="4029075"/>
                <a:chExt cx="171450" cy="1714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829425" y="4029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915150" y="406717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144702" y="3960971"/>
                <a:ext cx="9863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生产化加固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48512" y="4241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可观测性、限流、部署与运维完善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09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3" grpId="0"/>
      <p:bldP spid="35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285750"/>
            <a:ext cx="12573000" cy="7429500"/>
            <a:chOff x="-285750" y="-285750"/>
            <a:chExt cx="12573000" cy="7429500"/>
          </a:xfrm>
        </p:grpSpPr>
        <p:sp>
          <p:nvSpPr>
            <p:cNvPr id="3" name="Ellipse 3"/>
            <p:cNvSpPr/>
            <p:nvPr/>
          </p:nvSpPr>
          <p:spPr>
            <a:xfrm>
              <a:off x="-285750" y="-285750"/>
              <a:ext cx="3048000" cy="30480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" y="1238250"/>
              <a:ext cx="1524000" cy="15240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429750" y="42862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0" y="44767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97979" y="2171700"/>
            <a:ext cx="388521" cy="388521"/>
            <a:chOff x="5897979" y="2171700"/>
            <a:chExt cx="388521" cy="388521"/>
          </a:xfrm>
        </p:grpSpPr>
        <p:grpSp>
          <p:nvGrpSpPr>
            <p:cNvPr id="11" name="Group 11"/>
            <p:cNvGrpSpPr/>
            <p:nvPr/>
          </p:nvGrpSpPr>
          <p:grpSpPr>
            <a:xfrm>
              <a:off x="5897979" y="2171700"/>
              <a:ext cx="388521" cy="388521"/>
              <a:chOff x="5897979" y="2171700"/>
              <a:chExt cx="388521" cy="38852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05500" y="21717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214312"/>
                    </a:moveTo>
                    <a:cubicBezTo>
                      <a:pt x="87396" y="224699"/>
                      <a:pt x="156301" y="293604"/>
                      <a:pt x="166688" y="381000"/>
                    </a:cubicBezTo>
                    <a:cubicBezTo>
                      <a:pt x="209480" y="356329"/>
                      <a:pt x="236495" y="311305"/>
                      <a:pt x="238125" y="261938"/>
                    </a:cubicBezTo>
                    <a:cubicBezTo>
                      <a:pt x="319892" y="233173"/>
                      <a:pt x="376281" y="157988"/>
                      <a:pt x="381000" y="71438"/>
                    </a:cubicBezTo>
                    <a:cubicBezTo>
                      <a:pt x="381000" y="31984"/>
                      <a:pt x="349016" y="0"/>
                      <a:pt x="309562" y="0"/>
                    </a:cubicBezTo>
                    <a:cubicBezTo>
                      <a:pt x="223012" y="4719"/>
                      <a:pt x="147827" y="61108"/>
                      <a:pt x="119062" y="142875"/>
                    </a:cubicBezTo>
                    <a:cubicBezTo>
                      <a:pt x="69695" y="144505"/>
                      <a:pt x="24671" y="171520"/>
                      <a:pt x="0" y="2143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897979" y="2409825"/>
                <a:ext cx="150396" cy="150396"/>
              </a:xfrm>
              <a:custGeom>
                <a:avLst/>
                <a:gdLst/>
                <a:ahLst/>
                <a:cxnLst/>
                <a:rect l="l" t="t" r="r" b="b"/>
                <a:pathLst>
                  <a:path w="150396" h="150396">
                    <a:moveTo>
                      <a:pt x="78959" y="0"/>
                    </a:moveTo>
                    <a:cubicBezTo>
                      <a:pt x="28261" y="28622"/>
                      <a:pt x="0" y="85143"/>
                      <a:pt x="7521" y="142875"/>
                    </a:cubicBezTo>
                    <a:cubicBezTo>
                      <a:pt x="65253" y="150396"/>
                      <a:pt x="121774" y="122136"/>
                      <a:pt x="150396" y="71438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43625" y="2266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5071824" y="2847975"/>
            <a:ext cx="2048351" cy="304800"/>
            <a:chOff x="5071824" y="2847975"/>
            <a:chExt cx="2048351" cy="304800"/>
          </a:xfrm>
        </p:grpSpPr>
        <p:sp>
          <p:nvSpPr>
            <p:cNvPr id="13" name="TextBox 13"/>
            <p:cNvSpPr txBox="1"/>
            <p:nvPr/>
          </p:nvSpPr>
          <p:spPr>
            <a:xfrm>
              <a:off x="5071824" y="2847975"/>
              <a:ext cx="20483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感谢观看 · THANK YOU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29965" y="3307080"/>
            <a:ext cx="5132070" cy="731520"/>
            <a:chOff x="3529965" y="3307080"/>
            <a:chExt cx="5132070" cy="731520"/>
          </a:xfrm>
        </p:grpSpPr>
        <p:sp>
          <p:nvSpPr>
            <p:cNvPr id="15" name="TextBox 15"/>
            <p:cNvSpPr txBox="1"/>
            <p:nvPr/>
          </p:nvSpPr>
          <p:spPr>
            <a:xfrm>
              <a:off x="3529965" y="3307080"/>
              <a:ext cx="513207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让短剧创作</a:t>
              </a:r>
              <a:r>
                <a:rPr lang="zh-CN" sz="36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如行云流水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32637" y="3950018"/>
            <a:ext cx="3526727" cy="274320"/>
            <a:chOff x="4332637" y="3950018"/>
            <a:chExt cx="3526727" cy="274320"/>
          </a:xfrm>
        </p:grpSpPr>
        <p:sp>
          <p:nvSpPr>
            <p:cNvPr id="17" name="TextBox 17"/>
            <p:cNvSpPr txBox="1"/>
            <p:nvPr/>
          </p:nvSpPr>
          <p:spPr>
            <a:xfrm>
              <a:off x="4332637" y="3950018"/>
              <a:ext cx="3526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DramaFlow · AI 驱动的短剧全流程生产平台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0" y="4381500"/>
            <a:ext cx="1143000" cy="38100"/>
            <a:chOff x="5524500" y="4381500"/>
            <a:chExt cx="1143000" cy="38100"/>
          </a:xfrm>
        </p:grpSpPr>
        <p:sp>
          <p:nvSpPr>
            <p:cNvPr id="19" name="Rectangle 19"/>
            <p:cNvSpPr/>
            <p:nvPr/>
          </p:nvSpPr>
          <p:spPr>
            <a:xfrm>
              <a:off x="5524500" y="43815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456557" y="4709160"/>
            <a:ext cx="3278886" cy="243840"/>
            <a:chOff x="4456557" y="4709160"/>
            <a:chExt cx="3278886" cy="243840"/>
          </a:xfrm>
        </p:grpSpPr>
        <p:sp>
          <p:nvSpPr>
            <p:cNvPr id="21" name="TextBox 21"/>
            <p:cNvSpPr txBox="1"/>
            <p:nvPr/>
          </p:nvSpPr>
          <p:spPr>
            <a:xfrm>
              <a:off x="4456557" y="470916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Node.js &gt;= 24 · npm install · npm run build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43500" y="5257800"/>
            <a:ext cx="1905000" cy="457200"/>
            <a:chOff x="5143500" y="5257800"/>
            <a:chExt cx="1905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5143500" y="52578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0753" y="5405914"/>
              <a:ext cx="17104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开始使用 DramaFlow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646938" y="6181249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Web :3000 · API :4000 · Swagger /docs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20" grpId="0"/>
      <p:bldP spid="22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2026-06-14T16:30:48Z</dcterms:created>
  <dcterms:modified xsi:type="dcterms:W3CDTF">2026-06-14T16:30:48Z</dcterms:modified>
  <cp:category/>
  <cp:contentStatus/>
</cp:coreProperties>
</file>