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大家好，今天我来介绍 DramaFlow —— 一个由 AI 驱动的短剧全流程生产平台。它是一个 TypeScript 单仓多包项目，由前端、后端、轮询 worker 和一个共享契约包四部分组成，覆盖了从剧本创作到成片导出的完整链路。先来看看，它究竟想解决什么问题。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传统短剧生产最大的痛点是割裂。第一，工具链割裂——剧本、分镜、绘图、视频、配音、剪辑散落在不同工具里，素材全靠手动搬运。第二，AI 能力难以串成闭环，文本、图片、视频、TTS 各自为政，产出物没法被下游直接复用。第三，协作和审阅缺位，版本、评论、审计和权限往往依赖文件名和聊天记录。DramaFlow 的回答，就是把这三重割裂收敛到一个平台，形成一条 AI 全流程闭环。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带着这三个问题，来看 DramaFlow 的定位。它面向的是导演与制作团队，核心目标是把短剧生产做成一条 AI 全流程闭环。简单说，就是让一个创作者从一句话梗概出发，在同一平台内完成剧本、分镜、图片、视频、配音、时间线组装直到导出。这一页用三根支柱概括了它覆盖的范围：创作、媒体生产，以及协作与导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这一页展开六大核心能力。AI 写作支持剧本、梗概、分镜和改写，并以流式方式生成，还支持对话式问答。分镜工作台提供拖拽重排、多选和镜头三栏详情。图片和视频生成都支持逐镜头和批量两种模式，并能在多个 provider 之间灵活切换。配音可以逐镜头或按场景批量合成。最后，协作审阅把版本生命周期、线程评论、审计和权限统一管理起来。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技术栈上，DramaFlow 是全栈 TypeScript。前端用 Next.js 十五和 React 十九，基于 App Router，样式是纯 CSS 语义化，国际化也是自研的。后端是 NestJS 十一，认证用 JWT 配合 argon2，实时推送走 Socket.IO 网关。数据层是 PostgreSQL 加 Prisma，一共二十六个模型。基础设施方面用 npm workspaces 管理多包，存储支持本地和 S3 两种后端，导出依赖 FFmpeg，整体可以通过 Docker Compose 一键拉起。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架构上是一个清晰的四层 monorepo。最上层是 apps/web，Next.js 前端，用一个统一的工作区 shell 通过 URL 的 mode 参数切换四种模式。往下是 apps/api，NestJS 服务，承载了几乎全部业务逻辑和 provider 编排。第三层是 apps/worker，只有大约一百行的轮询循环，负责认领、执行和重试任务，本身不含业务逻辑。底层贯穿四件套的是 packages/shared，它是跨栈领域类型和业务规则的唯一真相源。底部这条深色横带，则是贯穿各层的横切关注点：数据库、实时通信、存储和导出。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 AI 生成能力串成一条端到端的生产链。第一段是文本生成，产出剧本和梗概；然后是图片生成，对接 Gemini、SD WebUI 和 ComfyUI，产出镜头图；接着视频生成产出镜头视频；再往后是 TTS 配音，产出角色语音；最后由合成导出把时间线组装成成片。关键点是，每个阶段的产出物都能被下游复用，形成一条真正闭环的流水线。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文档在生产过程中遵循一套明确的审阅生命周期：从草稿，到已提交，到待审，最终走向通过或驳回。驳回后会回到草稿重新修改，形成一个回环。所有审阅与审批的业务规则都集中在共享包的 business-rules 文件里，保证前后端和 worker 行为一致。除了状态流转，版本管理还支持采纳、还原和差异对比，而剧本与世界观角色之间则通过 WebSocket 做实时双向同步。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整个创作过程发生在一个统一的工作区里，通过 URL 的 mode 参数在四种模式间切换。信息模式展示项目面板和成员；文档模式是主战场，涵盖查看、编辑、生成和版本，世界观和媒体也都映射到这里；任务模式跟踪生成任务和批量作业；时间线模式负责时间线编辑、自动组装和导出提交。一套 shell、四种模式，把分散的工具收敛到一个连续的工作流。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最后看一下当前状态。DramaFlow 目前已经开发就绪，五项关键能力都已落地：PostgreSQL 加 Prisma 的持久化、轮询 worker 任务流、Socket.IO 实时更新、provider 对接加 mock 回退，以及 FFmpeg 视频导出。面向未来，主要规划了两件事：一是引入 Redis 或 BullMQ 来替换当前的轮询 worker，提升吞吐和可靠性；二是完成生产化加固，补齐可观测性、限流和运维能力。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这就是 DramaFlow 的全貌 —— 一个让短剧创作如行云流水的 AI 全流程平台。它现在开发就绪，欢迎大家一起使用、贡献和反馈。运行起来很简单：Node.js 二十四以上，装好依赖，跑一次构建，就能在本地三百端口打开前端、四百端口访问后端。感谢大家的观看。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85750" y="-476250"/>
            <a:ext cx="12668250" cy="7810500"/>
            <a:chOff x="-285750" y="-476250"/>
            <a:chExt cx="12668250" cy="7810500"/>
          </a:xfrm>
        </p:grpSpPr>
        <p:sp>
          <p:nvSpPr>
            <p:cNvPr id="3" name="Ellipse 3"/>
            <p:cNvSpPr/>
            <p:nvPr/>
          </p:nvSpPr>
          <p:spPr>
            <a:xfrm>
              <a:off x="9144000" y="-476250"/>
              <a:ext cx="3238500" cy="3238500"/>
            </a:xfrm>
            <a:prstGeom prst="ellipse">
              <a:avLst/>
            </a:prstGeom>
            <a:solidFill>
              <a:srgbClr val="4F46E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0477500" y="1047750"/>
              <a:ext cx="1714500" cy="1714500"/>
            </a:xfrm>
            <a:prstGeom prst="ellipse">
              <a:avLst/>
            </a:prstGeom>
            <a:solidFill>
              <a:srgbClr val="06B6D4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285750" y="4476750"/>
              <a:ext cx="2857500" cy="2857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0" y="4667250"/>
              <a:ext cx="1333500" cy="1333500"/>
            </a:xfrm>
            <a:prstGeom prst="ellipse">
              <a:avLst/>
            </a:prstGeom>
            <a:solidFill>
              <a:srgbClr val="06B6D4">
                <a:alpha val="7000"/>
              </a:srgbClr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4953000" y="2209800"/>
            <a:ext cx="2286000" cy="419100"/>
            <a:chOff x="4953000" y="2209800"/>
            <a:chExt cx="2286000" cy="419100"/>
          </a:xfrm>
        </p:grpSpPr>
        <p:sp>
          <p:nvSpPr>
            <p:cNvPr id="8" name="Rectangle 8"/>
            <p:cNvSpPr/>
            <p:nvPr/>
          </p:nvSpPr>
          <p:spPr>
            <a:xfrm>
              <a:off x="4953000" y="2209800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219700" y="2343150"/>
              <a:ext cx="152400" cy="152400"/>
              <a:chOff x="5219700" y="2343150"/>
              <a:chExt cx="152400" cy="152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5219700" y="23431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19050"/>
                    </a:moveTo>
                    <a:cubicBezTo>
                      <a:pt x="0" y="8529"/>
                      <a:pt x="8529" y="0"/>
                      <a:pt x="19050" y="0"/>
                    </a:cubicBezTo>
                    <a:lnTo>
                      <a:pt x="133350" y="0"/>
                    </a:lnTo>
                    <a:cubicBezTo>
                      <a:pt x="143871" y="0"/>
                      <a:pt x="152400" y="8529"/>
                      <a:pt x="152400" y="19050"/>
                    </a:cubicBezTo>
                    <a:lnTo>
                      <a:pt x="152400" y="133350"/>
                    </a:lnTo>
                    <a:cubicBezTo>
                      <a:pt x="152400" y="143871"/>
                      <a:pt x="143871" y="152400"/>
                      <a:pt x="133350" y="152400"/>
                    </a:cubicBezTo>
                    <a:lnTo>
                      <a:pt x="19050" y="152400"/>
                    </a:lnTo>
                    <a:cubicBezTo>
                      <a:pt x="8529" y="152400"/>
                      <a:pt x="0" y="143871"/>
                      <a:pt x="0" y="133350"/>
                    </a:cubicBez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257800" y="23431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334000" y="23431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219700" y="2381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2197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19700" y="24193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334000" y="23812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334000" y="24574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5393055" y="235505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AI · 短剧生产平台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433839" y="2842260"/>
            <a:ext cx="5324323" cy="1463040"/>
            <a:chOff x="3433839" y="2842260"/>
            <a:chExt cx="5324323" cy="1463040"/>
          </a:xfrm>
        </p:grpSpPr>
        <p:sp>
          <p:nvSpPr>
            <p:cNvPr id="20" name="TextBox 20"/>
            <p:cNvSpPr txBox="1"/>
            <p:nvPr/>
          </p:nvSpPr>
          <p:spPr>
            <a:xfrm>
              <a:off x="3433839" y="2842260"/>
              <a:ext cx="5324323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Drama</a:t>
              </a:r>
              <a:r>
                <a:rPr lang="zh-CN" sz="72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Flow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61389" y="3918109"/>
            <a:ext cx="3869222" cy="441960"/>
            <a:chOff x="4161389" y="3918109"/>
            <a:chExt cx="3869222" cy="441960"/>
          </a:xfrm>
        </p:grpSpPr>
        <p:sp>
          <p:nvSpPr>
            <p:cNvPr id="22" name="TextBox 22"/>
            <p:cNvSpPr txBox="1"/>
            <p:nvPr/>
          </p:nvSpPr>
          <p:spPr>
            <a:xfrm>
              <a:off x="4161389" y="3918109"/>
              <a:ext cx="3869222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7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AI 驱动的短剧全流程生产平台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24500" y="4476750"/>
            <a:ext cx="1143000" cy="38100"/>
            <a:chOff x="5524500" y="4476750"/>
            <a:chExt cx="1143000" cy="38100"/>
          </a:xfrm>
        </p:grpSpPr>
        <p:sp>
          <p:nvSpPr>
            <p:cNvPr id="24" name="Rectangle 24"/>
            <p:cNvSpPr/>
            <p:nvPr/>
          </p:nvSpPr>
          <p:spPr>
            <a:xfrm>
              <a:off x="5524500" y="447675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46E5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096512" y="4899660"/>
            <a:ext cx="3998976" cy="243840"/>
            <a:chOff x="4096512" y="4899660"/>
            <a:chExt cx="3998976" cy="243840"/>
          </a:xfrm>
        </p:grpSpPr>
        <p:sp>
          <p:nvSpPr>
            <p:cNvPr id="26" name="TextBox 26"/>
            <p:cNvSpPr txBox="1"/>
            <p:nvPr/>
          </p:nvSpPr>
          <p:spPr>
            <a:xfrm>
              <a:off x="4096512" y="4899660"/>
              <a:ext cx="3998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TypeScript Monorepo · Web + API + Worker + Shared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295900" y="5524500"/>
            <a:ext cx="1600200" cy="342900"/>
            <a:chOff x="5295900" y="5524500"/>
            <a:chExt cx="1600200" cy="342900"/>
          </a:xfrm>
        </p:grpSpPr>
        <p:sp>
          <p:nvSpPr>
            <p:cNvPr id="28" name="Rectangle 28"/>
            <p:cNvSpPr/>
            <p:nvPr/>
          </p:nvSpPr>
          <p:spPr>
            <a:xfrm>
              <a:off x="5295900" y="55245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502828" y="5631656"/>
              <a:ext cx="118634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2026 · 项目介绍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解决的问题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700956" y="762952"/>
              <a:ext cx="894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THE PROBLEM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4487037" cy="243840"/>
            <a:chOff x="784860" y="1089660"/>
            <a:chExt cx="4487037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44870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传统短剧生产流程的三重割裂 —— 工具、AI 能力、协作各自为政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09600" y="1638300"/>
            <a:ext cx="10972800" cy="1123950"/>
            <a:chOff x="609600" y="1638300"/>
            <a:chExt cx="10972800" cy="1123950"/>
          </a:xfrm>
        </p:grpSpPr>
        <p:sp>
          <p:nvSpPr>
            <p:cNvPr id="9" name="Rectangle 9"/>
            <p:cNvSpPr/>
            <p:nvPr/>
          </p:nvSpPr>
          <p:spPr>
            <a:xfrm>
              <a:off x="609600" y="1638300"/>
              <a:ext cx="10972800" cy="990600"/>
            </a:xfrm>
            <a:prstGeom prst="roundRect">
              <a:avLst>
                <a:gd name="adj" fmla="val 1346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914400" y="19050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28700" y="2019300"/>
              <a:ext cx="228600" cy="228600"/>
              <a:chOff x="1028700" y="2019300"/>
              <a:chExt cx="22860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28700" y="2095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76200" y="38100"/>
                    </a:ln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81100" y="2095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76200" y="38100"/>
                    </a:ln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104900" y="20193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76200" y="38100"/>
                    </a:ln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04900" y="2171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76200" y="38100"/>
                    </a:lnTo>
                    <a:lnTo>
                      <a:pt x="38100" y="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79245" y="19364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工具链割裂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85912" y="2297906"/>
              <a:ext cx="4679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剧本、分镜、绘图、视频、配音、剪辑散落多个工具，素材靠手动搬运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77379" y="19088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09600" y="2781300"/>
            <a:ext cx="10972800" cy="1123950"/>
            <a:chOff x="609600" y="2781300"/>
            <a:chExt cx="10972800" cy="1123950"/>
          </a:xfrm>
        </p:grpSpPr>
        <p:sp>
          <p:nvSpPr>
            <p:cNvPr id="20" name="Rectangle 20"/>
            <p:cNvSpPr/>
            <p:nvPr/>
          </p:nvSpPr>
          <p:spPr>
            <a:xfrm>
              <a:off x="609600" y="2781300"/>
              <a:ext cx="10972800" cy="990600"/>
            </a:xfrm>
            <a:prstGeom prst="roundRect">
              <a:avLst>
                <a:gd name="adj" fmla="val 1346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14400" y="30480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54100" y="3149600"/>
              <a:ext cx="177800" cy="241300"/>
              <a:chOff x="1054100" y="3149600"/>
              <a:chExt cx="177800" cy="2413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066800" y="31750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43000" y="31496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04900" y="3276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181100" y="3276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054100" y="33020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181100" y="33020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104900" y="33528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17600" y="3225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68400" y="3225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79245" y="307943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能力难成闭环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585912" y="3440906"/>
              <a:ext cx="38390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文本 / 图 / 视频 / TTS 各自为政，产出物无法被下游复用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577379" y="30518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3924300"/>
            <a:ext cx="10972800" cy="1123950"/>
            <a:chOff x="609600" y="3924300"/>
            <a:chExt cx="10972800" cy="1123950"/>
          </a:xfrm>
        </p:grpSpPr>
        <p:sp>
          <p:nvSpPr>
            <p:cNvPr id="36" name="Rectangle 36"/>
            <p:cNvSpPr/>
            <p:nvPr/>
          </p:nvSpPr>
          <p:spPr>
            <a:xfrm>
              <a:off x="609600" y="3924300"/>
              <a:ext cx="10972800" cy="990600"/>
            </a:xfrm>
            <a:prstGeom prst="roundRect">
              <a:avLst>
                <a:gd name="adj" fmla="val 13462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4400" y="41910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028700" y="4305300"/>
              <a:ext cx="228600" cy="228600"/>
              <a:chOff x="1028700" y="4305300"/>
              <a:chExt cx="228600" cy="2286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1054100" y="430530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50800"/>
                    </a:moveTo>
                    <a:cubicBezTo>
                      <a:pt x="0" y="78856"/>
                      <a:pt x="22744" y="101600"/>
                      <a:pt x="50800" y="101600"/>
                    </a:cubicBezTo>
                    <a:cubicBezTo>
                      <a:pt x="78856" y="101600"/>
                      <a:pt x="101600" y="78856"/>
                      <a:pt x="101600" y="50800"/>
                    </a:cubicBezTo>
                    <a:cubicBezTo>
                      <a:pt x="101600" y="22744"/>
                      <a:pt x="78856" y="0"/>
                      <a:pt x="50800" y="0"/>
                    </a:cubicBezTo>
                    <a:cubicBezTo>
                      <a:pt x="22744" y="0"/>
                      <a:pt x="0" y="22744"/>
                      <a:pt x="0" y="5080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8700" y="4457700"/>
                <a:ext cx="1524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76200">
                    <a:moveTo>
                      <a:pt x="0" y="76200"/>
                    </a:moveTo>
                    <a:lnTo>
                      <a:pt x="0" y="50800"/>
                    </a:lnTo>
                    <a:cubicBezTo>
                      <a:pt x="0" y="22744"/>
                      <a:pt x="22744" y="0"/>
                      <a:pt x="50800" y="0"/>
                    </a:cubicBezTo>
                    <a:lnTo>
                      <a:pt x="101600" y="0"/>
                    </a:lnTo>
                    <a:cubicBezTo>
                      <a:pt x="129656" y="0"/>
                      <a:pt x="152400" y="22744"/>
                      <a:pt x="152400" y="50800"/>
                    </a:cubicBezTo>
                    <a:lnTo>
                      <a:pt x="152400" y="762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93800" y="4306951"/>
                <a:ext cx="38200" cy="98425"/>
              </a:xfrm>
              <a:custGeom>
                <a:avLst/>
                <a:gdLst/>
                <a:ahLst/>
                <a:cxnLst/>
                <a:rect l="l" t="t" r="r" b="b"/>
                <a:pathLst>
                  <a:path w="38200" h="98425">
                    <a:moveTo>
                      <a:pt x="0" y="0"/>
                    </a:moveTo>
                    <a:cubicBezTo>
                      <a:pt x="22478" y="5755"/>
                      <a:pt x="38200" y="26009"/>
                      <a:pt x="38200" y="49212"/>
                    </a:cubicBezTo>
                    <a:cubicBezTo>
                      <a:pt x="38200" y="72416"/>
                      <a:pt x="22478" y="92670"/>
                      <a:pt x="0" y="9842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19200" y="4459605"/>
                <a:ext cx="38100" cy="7429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4295">
                    <a:moveTo>
                      <a:pt x="38100" y="74295"/>
                    </a:moveTo>
                    <a:lnTo>
                      <a:pt x="38100" y="48895"/>
                    </a:lnTo>
                    <a:cubicBezTo>
                      <a:pt x="37967" y="25839"/>
                      <a:pt x="22324" y="576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579245" y="4222432"/>
              <a:ext cx="165911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协作与审阅缺位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85912" y="4583906"/>
              <a:ext cx="31789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版本、评论、审计、权限依赖文件名与聊天记录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577379" y="41948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9600" y="5219700"/>
            <a:ext cx="10972800" cy="800100"/>
            <a:chOff x="609600" y="5219700"/>
            <a:chExt cx="10972800" cy="800100"/>
          </a:xfrm>
        </p:grpSpPr>
        <p:sp>
          <p:nvSpPr>
            <p:cNvPr id="47" name="Rectangle 47"/>
            <p:cNvSpPr/>
            <p:nvPr/>
          </p:nvSpPr>
          <p:spPr>
            <a:xfrm>
              <a:off x="609600" y="5219700"/>
              <a:ext cx="10972800" cy="800100"/>
            </a:xfrm>
            <a:prstGeom prst="roundRect">
              <a:avLst>
                <a:gd name="adj" fmla="val 16667"/>
              </a:avLst>
            </a:prstGeom>
            <a:solidFill>
              <a:srgbClr val="4F46E5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967037" y="5505450"/>
              <a:ext cx="233113" cy="233113"/>
              <a:chOff x="967037" y="5505450"/>
              <a:chExt cx="233113" cy="23311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971550" y="550545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28588"/>
                    </a:moveTo>
                    <a:cubicBezTo>
                      <a:pt x="52438" y="134819"/>
                      <a:pt x="93781" y="176162"/>
                      <a:pt x="100012" y="228600"/>
                    </a:cubicBezTo>
                    <a:cubicBezTo>
                      <a:pt x="125688" y="213798"/>
                      <a:pt x="141897" y="186783"/>
                      <a:pt x="142875" y="157162"/>
                    </a:cubicBezTo>
                    <a:cubicBezTo>
                      <a:pt x="191935" y="139904"/>
                      <a:pt x="225769" y="94793"/>
                      <a:pt x="228600" y="42862"/>
                    </a:cubicBezTo>
                    <a:cubicBezTo>
                      <a:pt x="228600" y="19190"/>
                      <a:pt x="209410" y="0"/>
                      <a:pt x="185738" y="0"/>
                    </a:cubicBezTo>
                    <a:cubicBezTo>
                      <a:pt x="133807" y="2831"/>
                      <a:pt x="88696" y="36665"/>
                      <a:pt x="71438" y="85725"/>
                    </a:cubicBezTo>
                    <a:cubicBezTo>
                      <a:pt x="41817" y="86703"/>
                      <a:pt x="14802" y="102912"/>
                      <a:pt x="0" y="1285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67037" y="5648325"/>
                <a:ext cx="90238" cy="90238"/>
              </a:xfrm>
              <a:custGeom>
                <a:avLst/>
                <a:gdLst/>
                <a:ahLst/>
                <a:cxnLst/>
                <a:rect l="l" t="t" r="r" b="b"/>
                <a:pathLst>
                  <a:path w="90238" h="90238">
                    <a:moveTo>
                      <a:pt x="47375" y="0"/>
                    </a:moveTo>
                    <a:cubicBezTo>
                      <a:pt x="16956" y="17173"/>
                      <a:pt x="0" y="51086"/>
                      <a:pt x="4513" y="85725"/>
                    </a:cubicBezTo>
                    <a:cubicBezTo>
                      <a:pt x="39152" y="90238"/>
                      <a:pt x="73065" y="73281"/>
                      <a:pt x="90238" y="42862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114425" y="55626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388745" y="5517832"/>
              <a:ext cx="548264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DramaFlow 的回答 —— 一个平台，一条 AI 全流程闭环</a:t>
              </a:r>
            </a:p>
          </p:txBody>
        </p:sp>
        <p:sp>
          <p:nvSpPr>
            <p:cNvPr id="53" name="Polygon 53"/>
            <p:cNvSpPr/>
            <p:nvPr/>
          </p:nvSpPr>
          <p:spPr>
            <a:xfrm>
              <a:off x="10934700" y="5448300"/>
              <a:ext cx="190500" cy="247650"/>
            </a:xfrm>
            <a:custGeom>
              <a:avLst/>
              <a:gdLst/>
              <a:ahLst/>
              <a:cxnLst/>
              <a:rect l="l" t="t" r="r" b="b"/>
              <a:pathLst>
                <a:path w="190500" h="247650">
                  <a:moveTo>
                    <a:pt x="0" y="0"/>
                  </a:moveTo>
                  <a:lnTo>
                    <a:pt x="190500" y="123825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02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/>
      <p:bldP spid="35" grpId="0"/>
      <p:bldP spid="46" grpId="0"/>
      <p:bldP spid="5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666750"/>
            <a:ext cx="11430000" cy="5905500"/>
            <a:chOff x="476250" y="666750"/>
            <a:chExt cx="11430000" cy="5905500"/>
          </a:xfrm>
        </p:grpSpPr>
        <p:sp>
          <p:nvSpPr>
            <p:cNvPr id="3" name="Ellipse 3"/>
            <p:cNvSpPr/>
            <p:nvPr/>
          </p:nvSpPr>
          <p:spPr>
            <a:xfrm>
              <a:off x="476250" y="666750"/>
              <a:ext cx="2095500" cy="2095500"/>
            </a:xfrm>
            <a:prstGeom prst="ellipse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429750" y="4095750"/>
              <a:ext cx="2476500" cy="2476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项目定位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770965" y="762952"/>
              <a:ext cx="824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POSITIONING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00118" y="2343150"/>
            <a:ext cx="4591764" cy="1162050"/>
            <a:chOff x="3800118" y="2343150"/>
            <a:chExt cx="4591764" cy="1162050"/>
          </a:xfrm>
        </p:grpSpPr>
        <p:sp>
          <p:nvSpPr>
            <p:cNvPr id="10" name="TextBox 10"/>
            <p:cNvSpPr txBox="1"/>
            <p:nvPr/>
          </p:nvSpPr>
          <p:spPr>
            <a:xfrm>
              <a:off x="3957638" y="2343150"/>
              <a:ext cx="427672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面向</a:t>
              </a:r>
              <a:r>
                <a:rPr lang="zh-CN" sz="30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导演与制作团队</a:t>
              </a:r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0118" y="2895600"/>
              <a:ext cx="4591764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 xml:space="preserve">短剧 </a:t>
              </a:r>
              <a:r>
                <a:rPr lang="zh-CN" sz="30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AI 全流程</a:t>
              </a:r>
              <a:r>
                <a:rPr lang="zh-CN" sz="30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 xml:space="preserve"> 生产平台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25611" y="3759518"/>
            <a:ext cx="3940778" cy="274320"/>
            <a:chOff x="4125611" y="3759518"/>
            <a:chExt cx="3940778" cy="274320"/>
          </a:xfrm>
        </p:grpSpPr>
        <p:sp>
          <p:nvSpPr>
            <p:cNvPr id="13" name="TextBox 13"/>
            <p:cNvSpPr txBox="1"/>
            <p:nvPr/>
          </p:nvSpPr>
          <p:spPr>
            <a:xfrm>
              <a:off x="4125611" y="3759518"/>
              <a:ext cx="39407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从一句话梗概到成片导出 —— 全程在同一平台完成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857500" y="4572000"/>
            <a:ext cx="6477000" cy="9525"/>
            <a:chOff x="2857500" y="4572000"/>
            <a:chExt cx="6477000" cy="9525"/>
          </a:xfrm>
        </p:grpSpPr>
        <p:sp>
          <p:nvSpPr>
            <p:cNvPr id="15" name="Line 15"/>
            <p:cNvSpPr/>
            <p:nvPr/>
          </p:nvSpPr>
          <p:spPr>
            <a:xfrm>
              <a:off x="2857500" y="4572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3088481" y="5048250"/>
            <a:ext cx="7123367" cy="628650"/>
            <a:chOff x="3088481" y="5048250"/>
            <a:chExt cx="7123367" cy="628650"/>
          </a:xfrm>
        </p:grpSpPr>
        <p:grpSp>
          <p:nvGrpSpPr>
            <p:cNvPr id="23" name="Group 23"/>
            <p:cNvGrpSpPr/>
            <p:nvPr/>
          </p:nvGrpSpPr>
          <p:grpSpPr>
            <a:xfrm>
              <a:off x="3088481" y="5133975"/>
              <a:ext cx="1611249" cy="509587"/>
              <a:chOff x="3088481" y="5133975"/>
              <a:chExt cx="1611249" cy="509587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3088481" y="5183981"/>
                <a:ext cx="229394" cy="215900"/>
                <a:chOff x="3088481" y="5183981"/>
                <a:chExt cx="229394" cy="2159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3263900" y="5183981"/>
                  <a:ext cx="53975" cy="21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215900">
                      <a:moveTo>
                        <a:pt x="53975" y="188913"/>
                      </a:moveTo>
                      <a:lnTo>
                        <a:pt x="53975" y="26988"/>
                      </a:lnTo>
                      <a:cubicBezTo>
                        <a:pt x="53975" y="11861"/>
                        <a:pt x="42114" y="0"/>
                        <a:pt x="26987" y="0"/>
                      </a:cubicBezTo>
                      <a:cubicBezTo>
                        <a:pt x="11861" y="0"/>
                        <a:pt x="0" y="11861"/>
                        <a:pt x="0" y="26988"/>
                      </a:cubicBezTo>
                      <a:lnTo>
                        <a:pt x="0" y="188913"/>
                      </a:lnTo>
                      <a:lnTo>
                        <a:pt x="26987" y="215900"/>
                      </a:lnTo>
                      <a:lnTo>
                        <a:pt x="53975" y="188913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263900" y="5237956"/>
                  <a:ext cx="539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75" h="9525">
                      <a:moveTo>
                        <a:pt x="0" y="0"/>
                      </a:moveTo>
                      <a:lnTo>
                        <a:pt x="53975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088481" y="5291931"/>
                  <a:ext cx="202406" cy="1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6" h="107950">
                      <a:moveTo>
                        <a:pt x="202406" y="107950"/>
                      </a:moveTo>
                      <a:lnTo>
                        <a:pt x="26987" y="107950"/>
                      </a:lnTo>
                      <a:cubicBezTo>
                        <a:pt x="12083" y="107950"/>
                        <a:pt x="0" y="95867"/>
                        <a:pt x="0" y="80962"/>
                      </a:cubicBezTo>
                      <a:cubicBezTo>
                        <a:pt x="0" y="66058"/>
                        <a:pt x="12083" y="53975"/>
                        <a:pt x="26987" y="53975"/>
                      </a:cubicBezTo>
                      <a:lnTo>
                        <a:pt x="80962" y="53975"/>
                      </a:lnTo>
                      <a:cubicBezTo>
                        <a:pt x="95867" y="53975"/>
                        <a:pt x="107950" y="41892"/>
                        <a:pt x="107950" y="26987"/>
                      </a:cubicBezTo>
                      <a:cubicBezTo>
                        <a:pt x="107950" y="12083"/>
                        <a:pt x="95867" y="0"/>
                        <a:pt x="80962" y="0"/>
                      </a:cubicBezTo>
                      <a:lnTo>
                        <a:pt x="40481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3505200" y="5133975"/>
                <a:ext cx="45815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创作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510915" y="5430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剧本 · 梗概 · 分镜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5391150" y="50482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774531" y="5133975"/>
              <a:ext cx="1611249" cy="509587"/>
              <a:chOff x="5774531" y="5133975"/>
              <a:chExt cx="1611249" cy="509587"/>
            </a:xfrm>
          </p:grpSpPr>
          <p:grpSp>
            <p:nvGrpSpPr>
              <p:cNvPr id="29" name="Group 29"/>
              <p:cNvGrpSpPr/>
              <p:nvPr/>
            </p:nvGrpSpPr>
            <p:grpSpPr>
              <a:xfrm>
                <a:off x="5774531" y="5183981"/>
                <a:ext cx="242888" cy="242888"/>
                <a:chOff x="5774531" y="5183981"/>
                <a:chExt cx="242888" cy="242888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5936456" y="52514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35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5774531" y="5183981"/>
                  <a:ext cx="242888" cy="2428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42888">
                      <a:moveTo>
                        <a:pt x="0" y="40481"/>
                      </a:moveTo>
                      <a:cubicBezTo>
                        <a:pt x="0" y="18124"/>
                        <a:pt x="18124" y="0"/>
                        <a:pt x="40481" y="0"/>
                      </a:cubicBezTo>
                      <a:lnTo>
                        <a:pt x="202406" y="0"/>
                      </a:lnTo>
                      <a:cubicBezTo>
                        <a:pt x="224763" y="0"/>
                        <a:pt x="242888" y="18124"/>
                        <a:pt x="242888" y="40481"/>
                      </a:cubicBezTo>
                      <a:lnTo>
                        <a:pt x="242888" y="202406"/>
                      </a:lnTo>
                      <a:cubicBezTo>
                        <a:pt x="242888" y="224763"/>
                        <a:pt x="224763" y="242888"/>
                        <a:pt x="202406" y="242888"/>
                      </a:cubicBezTo>
                      <a:lnTo>
                        <a:pt x="40481" y="242888"/>
                      </a:lnTo>
                      <a:cubicBezTo>
                        <a:pt x="18124" y="242888"/>
                        <a:pt x="0" y="224763"/>
                        <a:pt x="0" y="202406"/>
                      </a:cubicBezTo>
                      <a:lnTo>
                        <a:pt x="0" y="40481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774531" y="5279881"/>
                  <a:ext cx="175419" cy="79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419" h="79519">
                      <a:moveTo>
                        <a:pt x="0" y="79519"/>
                      </a:moveTo>
                      <a:lnTo>
                        <a:pt x="67469" y="12050"/>
                      </a:lnTo>
                      <a:cubicBezTo>
                        <a:pt x="79991" y="0"/>
                        <a:pt x="95428" y="0"/>
                        <a:pt x="107950" y="12050"/>
                      </a:cubicBezTo>
                      <a:lnTo>
                        <a:pt x="175419" y="79519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5922962" y="5306869"/>
                  <a:ext cx="94456" cy="525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56" h="52531">
                      <a:moveTo>
                        <a:pt x="0" y="25544"/>
                      </a:moveTo>
                      <a:lnTo>
                        <a:pt x="13494" y="12050"/>
                      </a:lnTo>
                      <a:cubicBezTo>
                        <a:pt x="26016" y="0"/>
                        <a:pt x="41453" y="0"/>
                        <a:pt x="53975" y="12050"/>
                      </a:cubicBezTo>
                      <a:lnTo>
                        <a:pt x="94456" y="52531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6191250" y="513397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媒体生产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196965" y="5430202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图片 · 视频 · 配音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8096250" y="5048250"/>
              <a:ext cx="9525" cy="628650"/>
            </a:xfrm>
            <a:custGeom>
              <a:avLst/>
              <a:gdLst/>
              <a:ahLst/>
              <a:cxnLst/>
              <a:rect l="l" t="t" r="r" b="b"/>
              <a:pathLst>
                <a:path w="9525" h="628650">
                  <a:moveTo>
                    <a:pt x="0" y="0"/>
                  </a:moveTo>
                  <a:lnTo>
                    <a:pt x="0" y="62865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87569" y="5133975"/>
              <a:ext cx="1724279" cy="509587"/>
              <a:chOff x="8487569" y="5133975"/>
              <a:chExt cx="1724279" cy="509587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8487569" y="5183981"/>
                <a:ext cx="215900" cy="256381"/>
                <a:chOff x="8487569" y="5183981"/>
                <a:chExt cx="215900" cy="256381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609012" y="5183981"/>
                  <a:ext cx="67469" cy="67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469" h="67469">
                      <a:moveTo>
                        <a:pt x="0" y="0"/>
                      </a:moveTo>
                      <a:lnTo>
                        <a:pt x="0" y="53975"/>
                      </a:lnTo>
                      <a:cubicBezTo>
                        <a:pt x="0" y="61427"/>
                        <a:pt x="6041" y="67469"/>
                        <a:pt x="13494" y="67469"/>
                      </a:cubicBezTo>
                      <a:lnTo>
                        <a:pt x="67469" y="67469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87569" y="5183981"/>
                  <a:ext cx="215900" cy="256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5900" h="256381">
                      <a:moveTo>
                        <a:pt x="87709" y="242888"/>
                      </a:moveTo>
                      <a:lnTo>
                        <a:pt x="26987" y="242888"/>
                      </a:lnTo>
                      <a:cubicBezTo>
                        <a:pt x="12083" y="242888"/>
                        <a:pt x="0" y="230805"/>
                        <a:pt x="0" y="215900"/>
                      </a:cubicBezTo>
                      <a:lnTo>
                        <a:pt x="0" y="26988"/>
                      </a:lnTo>
                      <a:cubicBezTo>
                        <a:pt x="0" y="12083"/>
                        <a:pt x="12083" y="0"/>
                        <a:pt x="26987" y="0"/>
                      </a:cubicBezTo>
                      <a:lnTo>
                        <a:pt x="121444" y="0"/>
                      </a:lnTo>
                      <a:lnTo>
                        <a:pt x="188912" y="67469"/>
                      </a:lnTo>
                      <a:lnTo>
                        <a:pt x="188912" y="134937"/>
                      </a:lnTo>
                      <a:moveTo>
                        <a:pt x="121444" y="215900"/>
                      </a:moveTo>
                      <a:lnTo>
                        <a:pt x="215900" y="215900"/>
                      </a:lnTo>
                      <a:moveTo>
                        <a:pt x="175419" y="175419"/>
                      </a:moveTo>
                      <a:lnTo>
                        <a:pt x="215900" y="215900"/>
                      </a:lnTo>
                      <a:lnTo>
                        <a:pt x="175419" y="256381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8877300" y="51339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协作与导出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883015" y="5430202"/>
                <a:ext cx="132883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审阅 · 时间线 · 成片</a:t>
                </a: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41" name="TextBox 41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03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核心能力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71915" y="762952"/>
              <a:ext cx="12238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CORE CAPABILITIES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070860" cy="243840"/>
            <a:chOff x="784860" y="1089660"/>
            <a:chExt cx="3070860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六大核心能力构成从创作到导出的完整闭环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524000"/>
            <a:ext cx="3505200" cy="2190750"/>
            <a:chOff x="609600" y="1524000"/>
            <a:chExt cx="3505200" cy="219075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1859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00125" y="1914525"/>
              <a:ext cx="269875" cy="254000"/>
              <a:chOff x="1000125" y="1914525"/>
              <a:chExt cx="269875" cy="25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06500" y="1914525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222250"/>
                    </a:moveTo>
                    <a:lnTo>
                      <a:pt x="63500" y="31750"/>
                    </a:lnTo>
                    <a:cubicBezTo>
                      <a:pt x="63500" y="13954"/>
                      <a:pt x="49546" y="0"/>
                      <a:pt x="31750" y="0"/>
                    </a:cubicBezTo>
                    <a:cubicBezTo>
                      <a:pt x="13954" y="0"/>
                      <a:pt x="0" y="13954"/>
                      <a:pt x="0" y="31750"/>
                    </a:cubicBezTo>
                    <a:lnTo>
                      <a:pt x="0" y="222250"/>
                    </a:lnTo>
                    <a:lnTo>
                      <a:pt x="31750" y="254000"/>
                    </a:lnTo>
                    <a:lnTo>
                      <a:pt x="63500" y="2222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6500" y="197802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00125" y="2041525"/>
                <a:ext cx="238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127000">
                    <a:moveTo>
                      <a:pt x="238125" y="127000"/>
                    </a:move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cubicBezTo>
                      <a:pt x="0" y="77715"/>
                      <a:pt x="14215" y="63500"/>
                      <a:pt x="31750" y="63500"/>
                    </a:cubicBezTo>
                    <a:lnTo>
                      <a:pt x="95250" y="63500"/>
                    </a:lnTo>
                    <a:cubicBezTo>
                      <a:pt x="112785" y="63500"/>
                      <a:pt x="127000" y="49285"/>
                      <a:pt x="127000" y="31750"/>
                    </a:cubicBezTo>
                    <a:cubicBezTo>
                      <a:pt x="127000" y="14215"/>
                      <a:pt x="112785" y="0"/>
                      <a:pt x="95250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54392" y="2499836"/>
              <a:ext cx="804635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写作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4870" y="2817495"/>
              <a:ext cx="6151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AI WRITING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2012" y="311705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剧本、梗概、分镜、改写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2012" y="3345656"/>
              <a:ext cx="14837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SSE 流式 + 对话式 QA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43400" y="1524000"/>
            <a:ext cx="3505200" cy="2190750"/>
            <a:chOff x="4343400" y="1524000"/>
            <a:chExt cx="3505200" cy="21907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197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6101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749800" y="1930400"/>
              <a:ext cx="254000" cy="254000"/>
              <a:chOff x="4749800" y="1930400"/>
              <a:chExt cx="254000" cy="254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49800" y="1930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08550" y="1930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49800" y="20891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08550" y="208915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79375"/>
                    </a:lnTo>
                    <a:cubicBezTo>
                      <a:pt x="95250" y="88143"/>
                      <a:pt x="88143" y="95250"/>
                      <a:pt x="79375" y="95250"/>
                    </a:cubicBezTo>
                    <a:lnTo>
                      <a:pt x="15875" y="95250"/>
                    </a:lnTo>
                    <a:cubicBezTo>
                      <a:pt x="7107" y="95250"/>
                      <a:pt x="0" y="88143"/>
                      <a:pt x="0" y="79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4588192" y="24998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分镜工作台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8670" y="2817495"/>
              <a:ext cx="7663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STORYBOARD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95812" y="31170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拖拽重排 · 多选操作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95812" y="33456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镜头三栏详情面板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77200" y="1524000"/>
            <a:ext cx="3505200" cy="2190750"/>
            <a:chOff x="8077200" y="1524000"/>
            <a:chExt cx="3505200" cy="2190750"/>
          </a:xfrm>
        </p:grpSpPr>
        <p:sp>
          <p:nvSpPr>
            <p:cNvPr id="34" name="Rectangle 34"/>
            <p:cNvSpPr/>
            <p:nvPr/>
          </p:nvSpPr>
          <p:spPr>
            <a:xfrm>
              <a:off x="8077200" y="152400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65357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343900" y="17907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467725" y="1914525"/>
              <a:ext cx="285750" cy="285750"/>
              <a:chOff x="8467725" y="1914525"/>
              <a:chExt cx="285750" cy="2857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658225" y="19939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67725" y="19145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238125"/>
                    </a:lnTo>
                    <a:cubicBezTo>
                      <a:pt x="285750" y="264428"/>
                      <a:pt x="264428" y="285750"/>
                      <a:pt x="238125" y="285750"/>
                    </a:cubicBezTo>
                    <a:lnTo>
                      <a:pt x="47625" y="285750"/>
                    </a:lnTo>
                    <a:cubicBezTo>
                      <a:pt x="21322" y="285750"/>
                      <a:pt x="0" y="264428"/>
                      <a:pt x="0" y="23812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467725" y="2027349"/>
                <a:ext cx="206375" cy="93551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93551">
                    <a:moveTo>
                      <a:pt x="0" y="93551"/>
                    </a:moveTo>
                    <a:lnTo>
                      <a:pt x="79375" y="14176"/>
                    </a:lnTo>
                    <a:cubicBezTo>
                      <a:pt x="94107" y="0"/>
                      <a:pt x="112268" y="0"/>
                      <a:pt x="127000" y="14176"/>
                    </a:cubicBezTo>
                    <a:lnTo>
                      <a:pt x="206375" y="9355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642350" y="2059099"/>
                <a:ext cx="111125" cy="61801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61801">
                    <a:moveTo>
                      <a:pt x="0" y="30051"/>
                    </a:moveTo>
                    <a:lnTo>
                      <a:pt x="15875" y="14176"/>
                    </a:lnTo>
                    <a:cubicBezTo>
                      <a:pt x="30607" y="0"/>
                      <a:pt x="48768" y="0"/>
                      <a:pt x="63500" y="14176"/>
                    </a:cubicBezTo>
                    <a:lnTo>
                      <a:pt x="111125" y="61801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321992" y="24998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图片生成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2470" y="2817495"/>
              <a:ext cx="6088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IMAGE GEN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9612" y="31170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逐镜头与批量生成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9612" y="33456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候选管理 · 明确采纳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9600" y="3905250"/>
            <a:ext cx="3505200" cy="2190750"/>
            <a:chOff x="609600" y="3905250"/>
            <a:chExt cx="3505200" cy="2190750"/>
          </a:xfrm>
        </p:grpSpPr>
        <p:sp>
          <p:nvSpPr>
            <p:cNvPr id="47" name="Rectangle 47"/>
            <p:cNvSpPr/>
            <p:nvPr/>
          </p:nvSpPr>
          <p:spPr>
            <a:xfrm>
              <a:off x="6096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859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763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00125" y="4343400"/>
              <a:ext cx="285750" cy="190500"/>
              <a:chOff x="1000125" y="4343400"/>
              <a:chExt cx="285750" cy="1905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190625" y="4368310"/>
                <a:ext cx="95250" cy="14068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0680">
                    <a:moveTo>
                      <a:pt x="0" y="38590"/>
                    </a:moveTo>
                    <a:lnTo>
                      <a:pt x="72279" y="2458"/>
                    </a:lnTo>
                    <a:cubicBezTo>
                      <a:pt x="77199" y="0"/>
                      <a:pt x="83040" y="263"/>
                      <a:pt x="87719" y="3154"/>
                    </a:cubicBezTo>
                    <a:cubicBezTo>
                      <a:pt x="92398" y="6044"/>
                      <a:pt x="95247" y="11151"/>
                      <a:pt x="95250" y="16651"/>
                    </a:cubicBezTo>
                    <a:lnTo>
                      <a:pt x="95250" y="124029"/>
                    </a:lnTo>
                    <a:cubicBezTo>
                      <a:pt x="95247" y="129529"/>
                      <a:pt x="92398" y="134635"/>
                      <a:pt x="87719" y="137526"/>
                    </a:cubicBezTo>
                    <a:cubicBezTo>
                      <a:pt x="83040" y="140417"/>
                      <a:pt x="77199" y="140680"/>
                      <a:pt x="72279" y="138221"/>
                    </a:cubicBezTo>
                    <a:lnTo>
                      <a:pt x="0" y="102090"/>
                    </a:lnTo>
                    <a:lnTo>
                      <a:pt x="0" y="3859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00125" y="43434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854392" y="4881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视频生成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4870" y="5198745"/>
              <a:ext cx="6088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VIDEO GEN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012" y="5498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逐镜头与批量生成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62012" y="5726906"/>
              <a:ext cx="14912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多 provider 灵活切换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4343400" y="3905250"/>
            <a:ext cx="3505200" cy="2190750"/>
            <a:chOff x="4343400" y="3905250"/>
            <a:chExt cx="3505200" cy="2190750"/>
          </a:xfrm>
        </p:grpSpPr>
        <p:sp>
          <p:nvSpPr>
            <p:cNvPr id="58" name="Rectangle 58"/>
            <p:cNvSpPr/>
            <p:nvPr/>
          </p:nvSpPr>
          <p:spPr>
            <a:xfrm>
              <a:off x="43434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9197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4F46E5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6101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4765675" y="4279900"/>
              <a:ext cx="222250" cy="311150"/>
              <a:chOff x="4765675" y="4279900"/>
              <a:chExt cx="222250" cy="3111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4829175" y="4279900"/>
                <a:ext cx="952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4625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  <a:cubicBezTo>
                      <a:pt x="95250" y="153303"/>
                      <a:pt x="73928" y="174625"/>
                      <a:pt x="47625" y="174625"/>
                    </a:cubicBezTo>
                    <a:cubicBezTo>
                      <a:pt x="21322" y="174625"/>
                      <a:pt x="0" y="153303"/>
                      <a:pt x="0" y="127000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4765675" y="4406900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0" y="0"/>
                    </a:moveTo>
                    <a:cubicBezTo>
                      <a:pt x="0" y="61373"/>
                      <a:pt x="49752" y="111125"/>
                      <a:pt x="111125" y="111125"/>
                    </a:cubicBezTo>
                    <a:cubicBezTo>
                      <a:pt x="172498" y="111125"/>
                      <a:pt x="222250" y="61373"/>
                      <a:pt x="222250" y="0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813300" y="458152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4876800" y="45180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4588192" y="4881086"/>
              <a:ext cx="997859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TTS 配音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98670" y="5198745"/>
              <a:ext cx="6655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VOICEOVER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595812" y="54983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逐镜头 · 按场景批量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4595812" y="57269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角色语音统一生成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077200" y="3905250"/>
            <a:ext cx="3505200" cy="2190750"/>
            <a:chOff x="8077200" y="3905250"/>
            <a:chExt cx="3505200" cy="2190750"/>
          </a:xfrm>
        </p:grpSpPr>
        <p:sp>
          <p:nvSpPr>
            <p:cNvPr id="71" name="Rectangle 71"/>
            <p:cNvSpPr/>
            <p:nvPr/>
          </p:nvSpPr>
          <p:spPr>
            <a:xfrm>
              <a:off x="8077200" y="3905250"/>
              <a:ext cx="3505200" cy="2190750"/>
            </a:xfrm>
            <a:prstGeom prst="roundRect">
              <a:avLst>
                <a:gd name="adj" fmla="val 69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653579" y="392811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06B6D4">
                      <a:alphaMod val="7000"/>
                    </a:srgbClr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8343900" y="41719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8467725" y="4295775"/>
              <a:ext cx="285750" cy="285750"/>
              <a:chOff x="8467725" y="4295775"/>
              <a:chExt cx="285750" cy="28575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8499475" y="42957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467725" y="44862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674100" y="42978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05850" y="4488656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8321992" y="4881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协作审阅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332470" y="5198745"/>
              <a:ext cx="10183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COLLAB &amp; REVIEW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29612" y="5498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版本生命周期管理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329612" y="572690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线程评论 · 审计 · 权限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84" name="TextBox 84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04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3" grpId="0"/>
      <p:bldP spid="46" grpId="0"/>
      <p:bldP spid="57" grpId="0"/>
      <p:bldP spid="70" grpId="0"/>
      <p:bldP spid="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202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技术栈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33973" y="7629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TECH STACK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502914" cy="243840"/>
            <a:chOff x="784860" y="1089660"/>
            <a:chExt cx="3502914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5029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全栈 TypeScript · 现代化、统一语言、共享契约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9600" y="1524000"/>
            <a:ext cx="2600325" cy="4648200"/>
            <a:chOff x="609600" y="1524000"/>
            <a:chExt cx="2600325" cy="46482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942975" y="1911350"/>
              <a:ext cx="285750" cy="254000"/>
              <a:chOff x="942975" y="1911350"/>
              <a:chExt cx="285750" cy="254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42975" y="19748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65225" y="197485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4100" y="191135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817245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前端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6770" y="2779395"/>
              <a:ext cx="6025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FRONTEND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38200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885825" y="3381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33462" y="333613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Next.js 15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85825" y="3743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3462" y="369808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React 19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885825" y="41052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3462" y="4060031"/>
              <a:ext cx="855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App Router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885825" y="44672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3462" y="4421981"/>
              <a:ext cx="85555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自定义 i18n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885825" y="48291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3462" y="4783931"/>
              <a:ext cx="10130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纯 CSS 语义化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400425" y="1524000"/>
            <a:ext cx="2600325" cy="4648200"/>
            <a:chOff x="3400425" y="1524000"/>
            <a:chExt cx="2600325" cy="4648200"/>
          </a:xfrm>
        </p:grpSpPr>
        <p:sp>
          <p:nvSpPr>
            <p:cNvPr id="29" name="Rectangle 29"/>
            <p:cNvSpPr/>
            <p:nvPr/>
          </p:nvSpPr>
          <p:spPr>
            <a:xfrm>
              <a:off x="3400425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3629025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733800" y="1911350"/>
              <a:ext cx="285750" cy="254000"/>
              <a:chOff x="3733800" y="1911350"/>
              <a:chExt cx="285750" cy="254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3733800" y="19113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3733800" y="20383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3797300" y="1974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97300" y="2101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3608070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后端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7595" y="2779395"/>
              <a:ext cx="50802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BACKEND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3629025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3676650" y="3381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824288" y="3336131"/>
              <a:ext cx="7689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NestJS 11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3676650" y="3743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824288" y="3698081"/>
              <a:ext cx="10209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JWT + argon2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676650" y="4105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824288" y="4060031"/>
              <a:ext cx="11627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Socket.IO 网关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676650" y="44672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824288" y="4421981"/>
              <a:ext cx="9185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内部 API Key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676650" y="48291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824288" y="4783931"/>
              <a:ext cx="1028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Swagger 文档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191250" y="1524000"/>
            <a:ext cx="2600325" cy="4648200"/>
            <a:chOff x="6191250" y="1524000"/>
            <a:chExt cx="2600325" cy="4648200"/>
          </a:xfrm>
        </p:grpSpPr>
        <p:sp>
          <p:nvSpPr>
            <p:cNvPr id="50" name="Rectangle 50"/>
            <p:cNvSpPr/>
            <p:nvPr/>
          </p:nvSpPr>
          <p:spPr>
            <a:xfrm>
              <a:off x="6191250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6419850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40500" y="1895475"/>
              <a:ext cx="254000" cy="285750"/>
              <a:chOff x="6540500" y="1895475"/>
              <a:chExt cx="254000" cy="2857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6540500" y="1895475"/>
                <a:ext cx="2540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0" y="95250"/>
                      <a:pt x="254000" y="73928"/>
                      <a:pt x="254000" y="47625"/>
                    </a:cubicBezTo>
                    <a:cubicBezTo>
                      <a:pt x="254000" y="21322"/>
                      <a:pt x="197140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40500" y="194310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40500" y="2038350"/>
                <a:ext cx="254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0" y="142875"/>
                      <a:pt x="254000" y="121553"/>
                      <a:pt x="254000" y="95250"/>
                    </a:cubicBez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398895" y="24888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数据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08420" y="2779395"/>
              <a:ext cx="30009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DATA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6419850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6467475" y="3381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615112" y="3336131"/>
              <a:ext cx="9264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PostgreSQL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467475" y="3743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15112" y="3698081"/>
              <a:ext cx="91068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Prisma ORM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467475" y="41052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615112" y="4060031"/>
              <a:ext cx="1036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26 个数据模型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467475" y="44672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615112" y="442198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乐观更新缓存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467475" y="48291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615112" y="4783931"/>
              <a:ext cx="9736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版本差异对比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982075" y="1524000"/>
            <a:ext cx="2600325" cy="4648200"/>
            <a:chOff x="8982075" y="1524000"/>
            <a:chExt cx="2600325" cy="4648200"/>
          </a:xfrm>
        </p:grpSpPr>
        <p:sp>
          <p:nvSpPr>
            <p:cNvPr id="70" name="Rectangle 70"/>
            <p:cNvSpPr/>
            <p:nvPr/>
          </p:nvSpPr>
          <p:spPr>
            <a:xfrm>
              <a:off x="8982075" y="1524000"/>
              <a:ext cx="2600325" cy="4648200"/>
            </a:xfrm>
            <a:prstGeom prst="roundRect">
              <a:avLst>
                <a:gd name="adj" fmla="val 586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9210675" y="1790700"/>
              <a:ext cx="495300" cy="495300"/>
            </a:xfrm>
            <a:prstGeom prst="roundRect">
              <a:avLst>
                <a:gd name="adj" fmla="val 26923"/>
              </a:avLst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9299575" y="1922304"/>
              <a:ext cx="317500" cy="211360"/>
            </a:xfrm>
            <a:custGeom>
              <a:avLst/>
              <a:gdLst/>
              <a:ahLst/>
              <a:cxnLst/>
              <a:rect l="l" t="t" r="r" b="b"/>
              <a:pathLst>
                <a:path w="317500" h="211360">
                  <a:moveTo>
                    <a:pt x="73930" y="211296"/>
                  </a:moveTo>
                  <a:cubicBezTo>
                    <a:pt x="33099" y="211296"/>
                    <a:pt x="0" y="179435"/>
                    <a:pt x="0" y="140129"/>
                  </a:cubicBezTo>
                  <a:cubicBezTo>
                    <a:pt x="0" y="100838"/>
                    <a:pt x="33099" y="68977"/>
                    <a:pt x="73930" y="68977"/>
                  </a:cubicBezTo>
                  <a:cubicBezTo>
                    <a:pt x="80169" y="41005"/>
                    <a:pt x="102410" y="18177"/>
                    <a:pt x="132270" y="9081"/>
                  </a:cubicBezTo>
                  <a:cubicBezTo>
                    <a:pt x="162115" y="0"/>
                    <a:pt x="195072" y="6017"/>
                    <a:pt x="218694" y="24956"/>
                  </a:cubicBezTo>
                  <a:cubicBezTo>
                    <a:pt x="242316" y="43847"/>
                    <a:pt x="253016" y="72692"/>
                    <a:pt x="246793" y="100663"/>
                  </a:cubicBezTo>
                  <a:lnTo>
                    <a:pt x="262509" y="100663"/>
                  </a:lnTo>
                  <a:cubicBezTo>
                    <a:pt x="292878" y="100663"/>
                    <a:pt x="317500" y="125428"/>
                    <a:pt x="317500" y="156004"/>
                  </a:cubicBezTo>
                  <a:cubicBezTo>
                    <a:pt x="317500" y="186595"/>
                    <a:pt x="292878" y="211360"/>
                    <a:pt x="262493" y="211360"/>
                  </a:cubicBezTo>
                  <a:lnTo>
                    <a:pt x="73930" y="211360"/>
                  </a:lnTo>
                </a:path>
              </a:pathLst>
            </a:custGeom>
            <a:noFill/>
            <a:ln w="19050">
              <a:solidFill>
                <a:srgbClr val="06B6D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189720" y="24888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基础设施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99245" y="2779395"/>
              <a:ext cx="9616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INFRASTRUCTURE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210675" y="3067050"/>
              <a:ext cx="2143125" cy="9525"/>
            </a:xfrm>
            <a:custGeom>
              <a:avLst/>
              <a:gdLst/>
              <a:ahLst/>
              <a:cxnLst/>
              <a:rect l="l" t="t" r="r" b="b"/>
              <a:pathLst>
                <a:path w="2143125" h="95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258300" y="3381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405938" y="3336131"/>
              <a:ext cx="12651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npm workspaces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9258300" y="3743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405938" y="3698081"/>
              <a:ext cx="12178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本地 / S3 双存储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9258300" y="41052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405938" y="4060031"/>
              <a:ext cx="9421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FFmpeg 导出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9258300" y="44672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405938" y="4421981"/>
              <a:ext cx="12336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Docker Compose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9258300" y="48291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405938" y="4783931"/>
              <a:ext cx="10367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Node.js &gt;= 24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87" name="TextBox 87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05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8" grpId="0"/>
      <p:bldP spid="49" grpId="0"/>
      <p:bldP spid="69" grpId="0"/>
      <p:bldP spid="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架构总览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679954" y="762952"/>
              <a:ext cx="9157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ARCHITECTURE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806952" cy="243840"/>
            <a:chOff x="784860" y="1089660"/>
            <a:chExt cx="3806952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8069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Monorepo 四件套 —— 职责清晰、单向依赖、共享契约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485900"/>
            <a:ext cx="10972800" cy="876300"/>
            <a:chOff x="609600" y="1485900"/>
            <a:chExt cx="10972800" cy="876300"/>
          </a:xfrm>
        </p:grpSpPr>
        <p:sp>
          <p:nvSpPr>
            <p:cNvPr id="9" name="Rectangle 9"/>
            <p:cNvSpPr/>
            <p:nvPr/>
          </p:nvSpPr>
          <p:spPr>
            <a:xfrm>
              <a:off x="609600" y="14859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165735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423" y="18249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9245" y="16887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前端层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86865" y="2039302"/>
              <a:ext cx="702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apps/web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85260" y="1775460"/>
              <a:ext cx="22227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Next.js 15 · 统一工作区 shell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86212" y="2031206"/>
              <a:ext cx="372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URL ?mode= 切换 info / document / tasks / timeline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1020425" y="1778000"/>
              <a:ext cx="285750" cy="254000"/>
              <a:chOff x="11020425" y="1778000"/>
              <a:chExt cx="285750" cy="254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020425" y="18415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63500" y="0"/>
                    </a:moveTo>
                    <a:lnTo>
                      <a:pt x="0" y="63500"/>
                    </a:lnTo>
                    <a:lnTo>
                      <a:pt x="6350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242675" y="1841500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1131550" y="1778000"/>
                <a:ext cx="635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54000">
                    <a:moveTo>
                      <a:pt x="63500" y="0"/>
                    </a:moveTo>
                    <a:lnTo>
                      <a:pt x="0" y="2540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33" name="Group 33"/>
          <p:cNvGrpSpPr/>
          <p:nvPr/>
        </p:nvGrpSpPr>
        <p:grpSpPr>
          <a:xfrm>
            <a:off x="609600" y="2495550"/>
            <a:ext cx="10972800" cy="876300"/>
            <a:chOff x="609600" y="2495550"/>
            <a:chExt cx="10972800" cy="876300"/>
          </a:xfrm>
        </p:grpSpPr>
        <p:sp>
          <p:nvSpPr>
            <p:cNvPr id="21" name="Rectangle 21"/>
            <p:cNvSpPr/>
            <p:nvPr/>
          </p:nvSpPr>
          <p:spPr>
            <a:xfrm>
              <a:off x="609600" y="24955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38200" y="26670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3423" y="28346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79245" y="26984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服务层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86865" y="3048952"/>
              <a:ext cx="636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apps/api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85260" y="2785110"/>
              <a:ext cx="2246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NestJS 11 · 全部业务逻辑所在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6212" y="3040856"/>
              <a:ext cx="34565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文档 / 版本 / 世界观 CRUD + AI 生成 provider 编排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11020425" y="2787650"/>
              <a:ext cx="285750" cy="254000"/>
              <a:chOff x="11020425" y="2787650"/>
              <a:chExt cx="285750" cy="254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1020425" y="27876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020425" y="2914650"/>
                <a:ext cx="2857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27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238125" y="0"/>
                    </a:lnTo>
                    <a:cubicBezTo>
                      <a:pt x="264428" y="0"/>
                      <a:pt x="285750" y="21322"/>
                      <a:pt x="285750" y="47625"/>
                    </a:cubicBezTo>
                    <a:lnTo>
                      <a:pt x="285750" y="79375"/>
                    </a:lnTo>
                    <a:cubicBezTo>
                      <a:pt x="285750" y="105678"/>
                      <a:pt x="264428" y="127000"/>
                      <a:pt x="238125" y="127000"/>
                    </a:cubicBezTo>
                    <a:lnTo>
                      <a:pt x="47625" y="127000"/>
                    </a:lnTo>
                    <a:cubicBezTo>
                      <a:pt x="21322" y="127000"/>
                      <a:pt x="0" y="105678"/>
                      <a:pt x="0" y="79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083925" y="2851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83925" y="2978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</p:grpSp>
      <p:grpSp>
        <p:nvGrpSpPr>
          <p:cNvPr id="44" name="Group 44"/>
          <p:cNvGrpSpPr/>
          <p:nvPr/>
        </p:nvGrpSpPr>
        <p:grpSpPr>
          <a:xfrm>
            <a:off x="609600" y="3505200"/>
            <a:ext cx="10972800" cy="876300"/>
            <a:chOff x="609600" y="3505200"/>
            <a:chExt cx="10972800" cy="876300"/>
          </a:xfrm>
        </p:grpSpPr>
        <p:sp>
          <p:nvSpPr>
            <p:cNvPr id="34" name="Rectangle 34"/>
            <p:cNvSpPr/>
            <p:nvPr/>
          </p:nvSpPr>
          <p:spPr>
            <a:xfrm>
              <a:off x="609600" y="350520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838200" y="367665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3423" y="384429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79245" y="37080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任务层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86865" y="4058602"/>
              <a:ext cx="9455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apps/worker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985260" y="3794760"/>
              <a:ext cx="2334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约 100 行轮询循环 · 无业务逻辑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86212" y="4050506"/>
              <a:ext cx="27514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通过 /internal/* 认领、执行、重试任务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11036300" y="3791175"/>
              <a:ext cx="254000" cy="266250"/>
              <a:chOff x="11036300" y="3791175"/>
              <a:chExt cx="254000" cy="2662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11036300" y="3791175"/>
                <a:ext cx="254000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17250">
                    <a:moveTo>
                      <a:pt x="254000" y="117250"/>
                    </a:moveTo>
                    <a:cubicBezTo>
                      <a:pt x="246019" y="59823"/>
                      <a:pt x="200594" y="14839"/>
                      <a:pt x="143092" y="7420"/>
                    </a:cubicBezTo>
                    <a:cubicBezTo>
                      <a:pt x="85590" y="0"/>
                      <a:pt x="30234" y="31980"/>
                      <a:pt x="7937" y="85500"/>
                    </a:cubicBezTo>
                    <a:moveTo>
                      <a:pt x="0" y="22000"/>
                    </a:moveTo>
                    <a:lnTo>
                      <a:pt x="0" y="85500"/>
                    </a:lnTo>
                    <a:lnTo>
                      <a:pt x="63500" y="85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036300" y="3940175"/>
                <a:ext cx="254000" cy="11725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17250">
                    <a:moveTo>
                      <a:pt x="0" y="0"/>
                    </a:moveTo>
                    <a:cubicBezTo>
                      <a:pt x="7981" y="57427"/>
                      <a:pt x="53406" y="102411"/>
                      <a:pt x="110908" y="109830"/>
                    </a:cubicBezTo>
                    <a:cubicBezTo>
                      <a:pt x="168410" y="117250"/>
                      <a:pt x="223766" y="85270"/>
                      <a:pt x="246062" y="31750"/>
                    </a:cubicBezTo>
                    <a:moveTo>
                      <a:pt x="254000" y="95250"/>
                    </a:moveTo>
                    <a:lnTo>
                      <a:pt x="254000" y="31750"/>
                    </a:lnTo>
                    <a:lnTo>
                      <a:pt x="190500" y="3175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609600" y="4514850"/>
            <a:ext cx="10972800" cy="876300"/>
            <a:chOff x="609600" y="4514850"/>
            <a:chExt cx="10972800" cy="876300"/>
          </a:xfrm>
        </p:grpSpPr>
        <p:sp>
          <p:nvSpPr>
            <p:cNvPr id="45" name="Rectangle 45"/>
            <p:cNvSpPr/>
            <p:nvPr/>
          </p:nvSpPr>
          <p:spPr>
            <a:xfrm>
              <a:off x="609600" y="4514850"/>
              <a:ext cx="10972800" cy="876300"/>
            </a:xfrm>
            <a:prstGeom prst="roundRect">
              <a:avLst>
                <a:gd name="adj" fmla="val 15217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8200" y="4686300"/>
              <a:ext cx="533400" cy="533400"/>
            </a:xfrm>
            <a:prstGeom prst="roundRect">
              <a:avLst>
                <a:gd name="adj" fmla="val 21429"/>
              </a:avLst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43423" y="4853940"/>
              <a:ext cx="32295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79245" y="47177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契约层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586865" y="5068252"/>
              <a:ext cx="12395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Consolas"/>
                  <a:ea typeface="Microsoft YaHei"/>
                  <a:cs typeface="Consolas"/>
                </a:rPr>
                <a:t>packages/shared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985260" y="48044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跨栈领域类型与业务规则的唯一真相源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986212" y="5060156"/>
              <a:ext cx="39740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domain · api-contracts · business-rules · storyboard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1036300" y="4838700"/>
              <a:ext cx="254000" cy="190500"/>
              <a:chOff x="11036300" y="4838700"/>
              <a:chExt cx="254000" cy="1905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11036300" y="48387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127000" y="0"/>
                    </a:moveTo>
                    <a:lnTo>
                      <a:pt x="0" y="63500"/>
                    </a:lnTo>
                    <a:lnTo>
                      <a:pt x="127000" y="127000"/>
                    </a:lnTo>
                    <a:lnTo>
                      <a:pt x="254000" y="63500"/>
                    </a:ln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1036300" y="4965700"/>
                <a:ext cx="254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63500">
                    <a:moveTo>
                      <a:pt x="0" y="0"/>
                    </a:moveTo>
                    <a:lnTo>
                      <a:pt x="127000" y="6350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</p:grpSp>
      <p:grpSp>
        <p:nvGrpSpPr>
          <p:cNvPr id="75" name="Group 75"/>
          <p:cNvGrpSpPr/>
          <p:nvPr/>
        </p:nvGrpSpPr>
        <p:grpSpPr>
          <a:xfrm>
            <a:off x="609600" y="5543550"/>
            <a:ext cx="10972800" cy="762000"/>
            <a:chOff x="609600" y="5543550"/>
            <a:chExt cx="10972800" cy="762000"/>
          </a:xfrm>
        </p:grpSpPr>
        <p:sp>
          <p:nvSpPr>
            <p:cNvPr id="56" name="Rectangle 56"/>
            <p:cNvSpPr/>
            <p:nvPr/>
          </p:nvSpPr>
          <p:spPr>
            <a:xfrm>
              <a:off x="609600" y="5543550"/>
              <a:ext cx="10972800" cy="762000"/>
            </a:xfrm>
            <a:prstGeom prst="roundRect">
              <a:avLst>
                <a:gd name="adj" fmla="val 17500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62965" y="5715952"/>
              <a:ext cx="19746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横切关注点 · CROSS-CUTTING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911225" y="5988844"/>
              <a:ext cx="1749046" cy="226218"/>
              <a:chOff x="911225" y="5988844"/>
              <a:chExt cx="1749046" cy="226218"/>
            </a:xfrm>
          </p:grpSpPr>
          <p:grpSp>
            <p:nvGrpSpPr>
              <p:cNvPr id="61" name="Group 61"/>
              <p:cNvGrpSpPr/>
              <p:nvPr/>
            </p:nvGrpSpPr>
            <p:grpSpPr>
              <a:xfrm>
                <a:off x="911225" y="5988844"/>
                <a:ext cx="139700" cy="157162"/>
                <a:chOff x="911225" y="5988844"/>
                <a:chExt cx="139700" cy="157162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11225" y="5988844"/>
                  <a:ext cx="139700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52388">
                      <a:moveTo>
                        <a:pt x="0" y="26194"/>
                      </a:moveTo>
                      <a:cubicBezTo>
                        <a:pt x="0" y="40660"/>
                        <a:pt x="31273" y="52388"/>
                        <a:pt x="69850" y="52388"/>
                      </a:cubicBezTo>
                      <a:cubicBezTo>
                        <a:pt x="108427" y="52388"/>
                        <a:pt x="139700" y="40660"/>
                        <a:pt x="139700" y="26194"/>
                      </a:cubicBezTo>
                      <a:cubicBezTo>
                        <a:pt x="139700" y="11727"/>
                        <a:pt x="108427" y="0"/>
                        <a:pt x="69850" y="0"/>
                      </a:cubicBezTo>
                      <a:cubicBezTo>
                        <a:pt x="31273" y="0"/>
                        <a:pt x="0" y="11727"/>
                        <a:pt x="0" y="26194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11225" y="6015038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911225" y="6067425"/>
                  <a:ext cx="1397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78581">
                      <a:moveTo>
                        <a:pt x="0" y="0"/>
                      </a:moveTo>
                      <a:lnTo>
                        <a:pt x="0" y="52388"/>
                      </a:lnTo>
                      <a:cubicBezTo>
                        <a:pt x="0" y="66854"/>
                        <a:pt x="31273" y="78581"/>
                        <a:pt x="69850" y="78581"/>
                      </a:cubicBezTo>
                      <a:cubicBezTo>
                        <a:pt x="108427" y="78581"/>
                        <a:pt x="139700" y="66854"/>
                        <a:pt x="139700" y="52388"/>
                      </a:cubicBezTo>
                      <a:lnTo>
                        <a:pt x="139700" y="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62" name="TextBox 62"/>
              <p:cNvSpPr txBox="1"/>
              <p:nvPr/>
            </p:nvSpPr>
            <p:spPr>
              <a:xfrm>
                <a:off x="1148715" y="6001702"/>
                <a:ext cx="15115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PostgreSQL + Prisma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663156" y="5988844"/>
              <a:ext cx="1313961" cy="226218"/>
              <a:chOff x="3663156" y="5988844"/>
              <a:chExt cx="1313961" cy="226218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3663156" y="5988844"/>
                <a:ext cx="122238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22238" h="157162">
                    <a:moveTo>
                      <a:pt x="69850" y="0"/>
                    </a:moveTo>
                    <a:lnTo>
                      <a:pt x="69850" y="61119"/>
                    </a:lnTo>
                    <a:lnTo>
                      <a:pt x="122238" y="61119"/>
                    </a:lnTo>
                    <a:lnTo>
                      <a:pt x="52388" y="157162"/>
                    </a:lnTo>
                    <a:lnTo>
                      <a:pt x="52388" y="96044"/>
                    </a:lnTo>
                    <a:lnTo>
                      <a:pt x="0" y="96044"/>
                    </a:ln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3891915" y="6001702"/>
                <a:ext cx="10852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Socket.IO 实时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113462" y="6001702"/>
              <a:ext cx="1244593" cy="213360"/>
              <a:chOff x="6113462" y="6001702"/>
              <a:chExt cx="1244593" cy="21336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113462" y="6003600"/>
                <a:ext cx="174625" cy="116248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116248">
                    <a:moveTo>
                      <a:pt x="40661" y="116213"/>
                    </a:moveTo>
                    <a:cubicBezTo>
                      <a:pt x="18205" y="116213"/>
                      <a:pt x="0" y="98689"/>
                      <a:pt x="0" y="77071"/>
                    </a:cubicBezTo>
                    <a:cubicBezTo>
                      <a:pt x="0" y="55461"/>
                      <a:pt x="18205" y="37937"/>
                      <a:pt x="40661" y="37937"/>
                    </a:cubicBezTo>
                    <a:cubicBezTo>
                      <a:pt x="44093" y="22553"/>
                      <a:pt x="56325" y="9997"/>
                      <a:pt x="72749" y="4994"/>
                    </a:cubicBezTo>
                    <a:cubicBezTo>
                      <a:pt x="89164" y="0"/>
                      <a:pt x="107290" y="3309"/>
                      <a:pt x="120282" y="13726"/>
                    </a:cubicBezTo>
                    <a:cubicBezTo>
                      <a:pt x="133274" y="24116"/>
                      <a:pt x="139159" y="39980"/>
                      <a:pt x="135736" y="55365"/>
                    </a:cubicBezTo>
                    <a:lnTo>
                      <a:pt x="144380" y="55365"/>
                    </a:lnTo>
                    <a:cubicBezTo>
                      <a:pt x="161083" y="55365"/>
                      <a:pt x="174625" y="68986"/>
                      <a:pt x="174625" y="85802"/>
                    </a:cubicBezTo>
                    <a:cubicBezTo>
                      <a:pt x="174625" y="102627"/>
                      <a:pt x="161083" y="116248"/>
                      <a:pt x="144371" y="116248"/>
                    </a:cubicBezTo>
                    <a:lnTo>
                      <a:pt x="40661" y="116248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368415" y="6001702"/>
                <a:ext cx="9896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本地 + S3 存储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8616156" y="5988844"/>
              <a:ext cx="1108136" cy="226218"/>
              <a:chOff x="8616156" y="5988844"/>
              <a:chExt cx="1108136" cy="226218"/>
            </a:xfrm>
          </p:grpSpPr>
          <p:grpSp>
            <p:nvGrpSpPr>
              <p:cNvPr id="72" name="Group 72"/>
              <p:cNvGrpSpPr/>
              <p:nvPr/>
            </p:nvGrpSpPr>
            <p:grpSpPr>
              <a:xfrm>
                <a:off x="8616156" y="5988844"/>
                <a:ext cx="139700" cy="165894"/>
                <a:chOff x="8616156" y="5988844"/>
                <a:chExt cx="139700" cy="165894"/>
              </a:xfrm>
            </p:grpSpPr>
            <p:sp>
              <p:nvSpPr>
                <p:cNvPr id="70" name="Freeform 70"/>
                <p:cNvSpPr/>
                <p:nvPr/>
              </p:nvSpPr>
              <p:spPr>
                <a:xfrm>
                  <a:off x="8694738" y="5988844"/>
                  <a:ext cx="43656" cy="436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56" h="43656">
                      <a:moveTo>
                        <a:pt x="0" y="0"/>
                      </a:moveTo>
                      <a:lnTo>
                        <a:pt x="0" y="34925"/>
                      </a:lnTo>
                      <a:cubicBezTo>
                        <a:pt x="0" y="39747"/>
                        <a:pt x="3909" y="43656"/>
                        <a:pt x="8731" y="43656"/>
                      </a:cubicBezTo>
                      <a:lnTo>
                        <a:pt x="43656" y="43656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616156" y="5988844"/>
                  <a:ext cx="139700" cy="165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700" h="165894">
                      <a:moveTo>
                        <a:pt x="56753" y="157162"/>
                      </a:moveTo>
                      <a:lnTo>
                        <a:pt x="17462" y="157162"/>
                      </a:lnTo>
                      <a:cubicBezTo>
                        <a:pt x="7818" y="157162"/>
                        <a:pt x="0" y="149344"/>
                        <a:pt x="0" y="139700"/>
                      </a:cubicBezTo>
                      <a:lnTo>
                        <a:pt x="0" y="17463"/>
                      </a:lnTo>
                      <a:cubicBezTo>
                        <a:pt x="0" y="7818"/>
                        <a:pt x="7818" y="0"/>
                        <a:pt x="17462" y="0"/>
                      </a:cubicBezTo>
                      <a:lnTo>
                        <a:pt x="78581" y="0"/>
                      </a:lnTo>
                      <a:lnTo>
                        <a:pt x="122237" y="43656"/>
                      </a:lnTo>
                      <a:lnTo>
                        <a:pt x="122237" y="87312"/>
                      </a:lnTo>
                      <a:moveTo>
                        <a:pt x="78581" y="139700"/>
                      </a:moveTo>
                      <a:lnTo>
                        <a:pt x="139700" y="139700"/>
                      </a:lnTo>
                      <a:moveTo>
                        <a:pt x="113506" y="113506"/>
                      </a:moveTo>
                      <a:lnTo>
                        <a:pt x="139700" y="139700"/>
                      </a:lnTo>
                      <a:lnTo>
                        <a:pt x="113506" y="165894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8844915" y="6001702"/>
                <a:ext cx="8793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FFmpeg 导出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97218" y="6657499"/>
            <a:ext cx="10997564" cy="198120"/>
            <a:chOff x="597218" y="6657499"/>
            <a:chExt cx="10997564" cy="198120"/>
          </a:xfrm>
        </p:grpSpPr>
        <p:sp>
          <p:nvSpPr>
            <p:cNvPr id="76" name="TextBox 76"/>
            <p:cNvSpPr txBox="1"/>
            <p:nvPr/>
          </p:nvSpPr>
          <p:spPr>
            <a:xfrm>
              <a:off x="597218" y="665749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134463" y="66574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06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33" grpId="0"/>
      <p:bldP spid="44" grpId="0"/>
      <p:bldP spid="55" grpId="0"/>
      <p:bldP spid="7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01552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AI 生成能力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861977" y="762952"/>
              <a:ext cx="733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AI PIPELINE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574923" cy="243840"/>
            <a:chOff x="784860" y="1089660"/>
            <a:chExt cx="3574923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574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端到端 AI 生产链 —— 每阶段产出可复用的中间产物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09600" y="1524000"/>
            <a:ext cx="1905000" cy="4000500"/>
            <a:chOff x="609600" y="1524000"/>
            <a:chExt cx="1905000" cy="40005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096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429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49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68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文本生成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2109788" y="1728788"/>
              <a:ext cx="188912" cy="177800"/>
              <a:chOff x="2109788" y="1728788"/>
              <a:chExt cx="188912" cy="177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254250" y="1728788"/>
                <a:ext cx="4445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177800">
                    <a:moveTo>
                      <a:pt x="44450" y="155575"/>
                    </a:moveTo>
                    <a:lnTo>
                      <a:pt x="44450" y="22225"/>
                    </a:lnTo>
                    <a:cubicBezTo>
                      <a:pt x="44450" y="9768"/>
                      <a:pt x="34682" y="0"/>
                      <a:pt x="22225" y="0"/>
                    </a:cubicBezTo>
                    <a:cubicBezTo>
                      <a:pt x="9768" y="0"/>
                      <a:pt x="0" y="9768"/>
                      <a:pt x="0" y="22225"/>
                    </a:cubicBezTo>
                    <a:lnTo>
                      <a:pt x="0" y="155575"/>
                    </a:lnTo>
                    <a:lnTo>
                      <a:pt x="22225" y="177800"/>
                    </a:lnTo>
                    <a:lnTo>
                      <a:pt x="44450" y="15557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54250" y="1773238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109788" y="1817688"/>
                <a:ext cx="166688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88900">
                    <a:moveTo>
                      <a:pt x="166688" y="88900"/>
                    </a:move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cubicBezTo>
                      <a:pt x="0" y="54400"/>
                      <a:pt x="9950" y="44450"/>
                      <a:pt x="22225" y="44450"/>
                    </a:cubicBezTo>
                    <a:lnTo>
                      <a:pt x="66675" y="44450"/>
                    </a:lnTo>
                    <a:cubicBezTo>
                      <a:pt x="78950" y="44450"/>
                      <a:pt x="88900" y="34500"/>
                      <a:pt x="88900" y="22225"/>
                    </a:cubicBezTo>
                    <a:cubicBezTo>
                      <a:pt x="88900" y="9950"/>
                      <a:pt x="78950" y="0"/>
                      <a:pt x="66675" y="0"/>
                    </a:cubicBezTo>
                    <a:lnTo>
                      <a:pt x="33338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8" name="Rectangle 18"/>
            <p:cNvSpPr/>
            <p:nvPr/>
          </p:nvSpPr>
          <p:spPr>
            <a:xfrm>
              <a:off x="609600" y="2057400"/>
              <a:ext cx="1905000" cy="304800"/>
            </a:xfrm>
            <a:prstGeom prst="rect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9494" y="2160270"/>
              <a:ext cx="12452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SSE 流式 + 对话式 QA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52475" y="26384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2968" y="2599849"/>
              <a:ext cx="11578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剧本 / 梗概 / 分镜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52475" y="3000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2968" y="29617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改写与重生成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52475" y="3362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82968" y="3323749"/>
              <a:ext cx="9530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维度追踪 brief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7429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429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733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6213" y="4243864"/>
              <a:ext cx="9517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剧本 · 梗概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876550" y="1524000"/>
            <a:ext cx="1905000" cy="4000500"/>
            <a:chOff x="2876550" y="1524000"/>
            <a:chExt cx="1905000" cy="4000500"/>
          </a:xfrm>
        </p:grpSpPr>
        <p:sp>
          <p:nvSpPr>
            <p:cNvPr id="31" name="Rectangle 31"/>
            <p:cNvSpPr/>
            <p:nvPr/>
          </p:nvSpPr>
          <p:spPr>
            <a:xfrm>
              <a:off x="287655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287655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00990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05185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9375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图片生成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4376738" y="1728788"/>
              <a:ext cx="200025" cy="200025"/>
              <a:chOff x="4376738" y="1728788"/>
              <a:chExt cx="200025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4510088" y="178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76738" y="17287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66688"/>
                    </a:lnTo>
                    <a:cubicBezTo>
                      <a:pt x="200025" y="185099"/>
                      <a:pt x="185099" y="200025"/>
                      <a:pt x="166688" y="200025"/>
                    </a:cubicBezTo>
                    <a:lnTo>
                      <a:pt x="33338" y="200025"/>
                    </a:lnTo>
                    <a:cubicBezTo>
                      <a:pt x="14926" y="200025"/>
                      <a:pt x="0" y="185099"/>
                      <a:pt x="0" y="166688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376738" y="1807764"/>
                <a:ext cx="144463" cy="6548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65486">
                    <a:moveTo>
                      <a:pt x="0" y="65486"/>
                    </a:moveTo>
                    <a:lnTo>
                      <a:pt x="55562" y="9923"/>
                    </a:lnTo>
                    <a:cubicBezTo>
                      <a:pt x="65875" y="0"/>
                      <a:pt x="78588" y="0"/>
                      <a:pt x="88900" y="9923"/>
                    </a:cubicBezTo>
                    <a:lnTo>
                      <a:pt x="144463" y="65486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498975" y="1829989"/>
                <a:ext cx="77788" cy="43261"/>
              </a:xfrm>
              <a:custGeom>
                <a:avLst/>
                <a:gdLst/>
                <a:ahLst/>
                <a:cxnLst/>
                <a:rect l="l" t="t" r="r" b="b"/>
                <a:pathLst>
                  <a:path w="77788" h="43261">
                    <a:moveTo>
                      <a:pt x="0" y="21036"/>
                    </a:moveTo>
                    <a:lnTo>
                      <a:pt x="11113" y="9923"/>
                    </a:lnTo>
                    <a:cubicBezTo>
                      <a:pt x="21425" y="0"/>
                      <a:pt x="34138" y="0"/>
                      <a:pt x="44450" y="9923"/>
                    </a:cubicBezTo>
                    <a:lnTo>
                      <a:pt x="77788" y="43261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41" name="Rectangle 41"/>
            <p:cNvSpPr/>
            <p:nvPr/>
          </p:nvSpPr>
          <p:spPr>
            <a:xfrm>
              <a:off x="2876550" y="2057400"/>
              <a:ext cx="1905000" cy="304800"/>
            </a:xfrm>
            <a:prstGeom prst="rect">
              <a:avLst/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30122" y="2160270"/>
              <a:ext cx="7978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逐镜头 / 批量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3019425" y="2638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149918" y="2599849"/>
              <a:ext cx="4343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Gemini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3019425" y="3000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49918" y="2961799"/>
              <a:ext cx="584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SD WebUI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3019425" y="3362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149918" y="3323749"/>
              <a:ext cx="5435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Consolas"/>
                  <a:ea typeface="Microsoft YaHei"/>
                  <a:cs typeface="Consolas"/>
                </a:rPr>
                <a:t>ComfyUI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300990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50" name="Rectangle 50"/>
            <p:cNvSpPr/>
            <p:nvPr/>
          </p:nvSpPr>
          <p:spPr>
            <a:xfrm>
              <a:off x="300990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4026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545074" y="4243864"/>
              <a:ext cx="5679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镜头图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143500" y="1524000"/>
            <a:ext cx="1905000" cy="4000500"/>
            <a:chOff x="5143500" y="1524000"/>
            <a:chExt cx="1905000" cy="4000500"/>
          </a:xfrm>
        </p:grpSpPr>
        <p:sp>
          <p:nvSpPr>
            <p:cNvPr id="54" name="Rectangle 54"/>
            <p:cNvSpPr/>
            <p:nvPr/>
          </p:nvSpPr>
          <p:spPr>
            <a:xfrm>
              <a:off x="51435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51435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2768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188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6607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视频生成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643688" y="1762125"/>
              <a:ext cx="200025" cy="133350"/>
              <a:chOff x="6643688" y="1762125"/>
              <a:chExt cx="200025" cy="13335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777038" y="1779562"/>
                <a:ext cx="66675" cy="98476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8476">
                    <a:moveTo>
                      <a:pt x="0" y="27013"/>
                    </a:moveTo>
                    <a:lnTo>
                      <a:pt x="50595" y="1721"/>
                    </a:lnTo>
                    <a:cubicBezTo>
                      <a:pt x="54039" y="0"/>
                      <a:pt x="58128" y="184"/>
                      <a:pt x="61403" y="2208"/>
                    </a:cubicBezTo>
                    <a:cubicBezTo>
                      <a:pt x="64678" y="4231"/>
                      <a:pt x="66673" y="7806"/>
                      <a:pt x="66675" y="11655"/>
                    </a:cubicBezTo>
                    <a:lnTo>
                      <a:pt x="66675" y="86820"/>
                    </a:lnTo>
                    <a:cubicBezTo>
                      <a:pt x="66673" y="90670"/>
                      <a:pt x="64678" y="94245"/>
                      <a:pt x="61403" y="96268"/>
                    </a:cubicBezTo>
                    <a:cubicBezTo>
                      <a:pt x="58128" y="98292"/>
                      <a:pt x="54039" y="98476"/>
                      <a:pt x="50595" y="96755"/>
                    </a:cubicBezTo>
                    <a:lnTo>
                      <a:pt x="0" y="71463"/>
                    </a:lnTo>
                    <a:lnTo>
                      <a:pt x="0" y="2701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643688" y="17621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11125"/>
                    </a:lnTo>
                    <a:cubicBezTo>
                      <a:pt x="133350" y="123400"/>
                      <a:pt x="123400" y="133350"/>
                      <a:pt x="111125" y="133350"/>
                    </a:cubicBezTo>
                    <a:lnTo>
                      <a:pt x="22225" y="133350"/>
                    </a:lnTo>
                    <a:cubicBezTo>
                      <a:pt x="9950" y="133350"/>
                      <a:pt x="0" y="123400"/>
                      <a:pt x="0" y="11112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62" name="Rectangle 62"/>
            <p:cNvSpPr/>
            <p:nvPr/>
          </p:nvSpPr>
          <p:spPr>
            <a:xfrm>
              <a:off x="5143500" y="2057400"/>
              <a:ext cx="1905000" cy="304800"/>
            </a:xfrm>
            <a:prstGeom prst="rect">
              <a:avLst/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97072" y="2160270"/>
              <a:ext cx="7978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逐镜头 / 批量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5286375" y="26384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416868" y="2599849"/>
              <a:ext cx="10827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多 provider 支持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286375" y="300037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416868" y="2961799"/>
              <a:ext cx="7756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Grok 等模型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5286375" y="3362325"/>
              <a:ext cx="57150" cy="5715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16868" y="33237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批量状态跟踪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52768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2768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EF2FF"/>
            </a:solidFill>
            <a:ln w="9525">
              <a:solidFill>
                <a:srgbClr val="C7D2FE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7072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722763" y="4243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镜头视频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7410450" y="1524000"/>
            <a:ext cx="1905000" cy="4000500"/>
            <a:chOff x="7410450" y="1524000"/>
            <a:chExt cx="1905000" cy="4000500"/>
          </a:xfrm>
        </p:grpSpPr>
        <p:sp>
          <p:nvSpPr>
            <p:cNvPr id="75" name="Rectangle 75"/>
            <p:cNvSpPr/>
            <p:nvPr/>
          </p:nvSpPr>
          <p:spPr>
            <a:xfrm>
              <a:off x="741045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6" name="Freeform 76"/>
            <p:cNvSpPr/>
            <p:nvPr/>
          </p:nvSpPr>
          <p:spPr>
            <a:xfrm>
              <a:off x="741045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54380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58575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927658" y="1719739"/>
              <a:ext cx="7375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TTS 配音</a:t>
              </a:r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8932862" y="1717675"/>
              <a:ext cx="155575" cy="220662"/>
              <a:chOff x="8932862" y="1717675"/>
              <a:chExt cx="155575" cy="220662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8977312" y="1717675"/>
                <a:ext cx="66675" cy="122237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22237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lnTo>
                      <a:pt x="66675" y="88900"/>
                    </a:lnTo>
                    <a:cubicBezTo>
                      <a:pt x="66675" y="107312"/>
                      <a:pt x="51749" y="122237"/>
                      <a:pt x="33338" y="122237"/>
                    </a:cubicBezTo>
                    <a:cubicBezTo>
                      <a:pt x="14926" y="122237"/>
                      <a:pt x="0" y="107312"/>
                      <a:pt x="0" y="88900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932862" y="1806575"/>
                <a:ext cx="15557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77788">
                    <a:moveTo>
                      <a:pt x="0" y="0"/>
                    </a:moveTo>
                    <a:cubicBezTo>
                      <a:pt x="0" y="42961"/>
                      <a:pt x="34827" y="77788"/>
                      <a:pt x="77787" y="77788"/>
                    </a:cubicBezTo>
                    <a:cubicBezTo>
                      <a:pt x="120748" y="77788"/>
                      <a:pt x="155575" y="42961"/>
                      <a:pt x="155575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966200" y="1928812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9010650" y="188436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85" name="Rectangle 85"/>
            <p:cNvSpPr/>
            <p:nvPr/>
          </p:nvSpPr>
          <p:spPr>
            <a:xfrm>
              <a:off x="7410450" y="2057400"/>
              <a:ext cx="1905000" cy="304800"/>
            </a:xfrm>
            <a:prstGeom prst="rect">
              <a:avLst/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901014" y="2160270"/>
              <a:ext cx="9238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逐镜头 / 按场景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553325" y="26384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683818" y="25998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角色语音生成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553325" y="300037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683818" y="296179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字幕同步预览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7553325" y="3362325"/>
              <a:ext cx="57150" cy="5715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683818" y="332374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按场景批量合成</a:t>
              </a:r>
            </a:p>
          </p:txBody>
        </p:sp>
        <p:sp>
          <p:nvSpPr>
            <p:cNvPr id="93" name="Line 93"/>
            <p:cNvSpPr/>
            <p:nvPr/>
          </p:nvSpPr>
          <p:spPr>
            <a:xfrm>
              <a:off x="754380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94" name="Rectangle 94"/>
            <p:cNvSpPr/>
            <p:nvPr/>
          </p:nvSpPr>
          <p:spPr>
            <a:xfrm>
              <a:off x="754380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EFF"/>
            </a:solidFill>
            <a:ln w="9525">
              <a:solidFill>
                <a:srgbClr val="A5F3FC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97416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989713" y="42438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角色配音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9677400" y="1524000"/>
            <a:ext cx="1905000" cy="4000500"/>
            <a:chOff x="9677400" y="1524000"/>
            <a:chExt cx="1905000" cy="4000500"/>
          </a:xfrm>
        </p:grpSpPr>
        <p:sp>
          <p:nvSpPr>
            <p:cNvPr id="98" name="Rectangle 98"/>
            <p:cNvSpPr/>
            <p:nvPr/>
          </p:nvSpPr>
          <p:spPr>
            <a:xfrm>
              <a:off x="9677400" y="1524000"/>
              <a:ext cx="1905000" cy="4000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9677400" y="1524000"/>
              <a:ext cx="1905000" cy="533400"/>
            </a:xfrm>
            <a:custGeom>
              <a:avLst/>
              <a:gdLst/>
              <a:ahLst/>
              <a:cxnLst/>
              <a:rect l="l" t="t" r="r" b="b"/>
              <a:pathLst>
                <a:path w="1905000" h="533400">
                  <a:moveTo>
                    <a:pt x="114300" y="0"/>
                  </a:moveTo>
                  <a:cubicBezTo>
                    <a:pt x="51174" y="0"/>
                    <a:pt x="0" y="51174"/>
                    <a:pt x="0" y="114300"/>
                  </a:cubicBezTo>
                  <a:lnTo>
                    <a:pt x="0" y="533400"/>
                  </a:lnTo>
                  <a:lnTo>
                    <a:pt x="1905000" y="533400"/>
                  </a:lnTo>
                  <a:lnTo>
                    <a:pt x="1905000" y="114300"/>
                  </a:lnTo>
                  <a:cubicBezTo>
                    <a:pt x="1905000" y="51174"/>
                    <a:pt x="1853826" y="0"/>
                    <a:pt x="17907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810750" y="16383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852702" y="1716881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194608" y="17197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合成导出</a:t>
              </a:r>
            </a:p>
          </p:txBody>
        </p:sp>
        <p:grpSp>
          <p:nvGrpSpPr>
            <p:cNvPr id="105" name="Group 105"/>
            <p:cNvGrpSpPr/>
            <p:nvPr/>
          </p:nvGrpSpPr>
          <p:grpSpPr>
            <a:xfrm>
              <a:off x="11199812" y="1728788"/>
              <a:ext cx="177800" cy="211137"/>
              <a:chOff x="11199812" y="1728788"/>
              <a:chExt cx="177800" cy="211137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11299825" y="172878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3" y="55563"/>
                    </a:cubicBezTo>
                    <a:lnTo>
                      <a:pt x="55563" y="55563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11199812" y="1728788"/>
                <a:ext cx="177800" cy="211137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11137">
                    <a:moveTo>
                      <a:pt x="72231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2" y="0"/>
                    </a:lnTo>
                    <a:lnTo>
                      <a:pt x="155575" y="55563"/>
                    </a:lnTo>
                    <a:lnTo>
                      <a:pt x="155575" y="111125"/>
                    </a:lnTo>
                    <a:moveTo>
                      <a:pt x="100012" y="177800"/>
                    </a:moveTo>
                    <a:lnTo>
                      <a:pt x="177800" y="177800"/>
                    </a:lnTo>
                    <a:moveTo>
                      <a:pt x="144463" y="144462"/>
                    </a:moveTo>
                    <a:lnTo>
                      <a:pt x="177800" y="177800"/>
                    </a:lnTo>
                    <a:lnTo>
                      <a:pt x="144463" y="211137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06" name="Rectangle 106"/>
            <p:cNvSpPr/>
            <p:nvPr/>
          </p:nvSpPr>
          <p:spPr>
            <a:xfrm>
              <a:off x="9677400" y="2057400"/>
              <a:ext cx="1905000" cy="304800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0303431" y="2160270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时间线组装</a:t>
              </a:r>
            </a:p>
          </p:txBody>
        </p:sp>
        <p:sp>
          <p:nvSpPr>
            <p:cNvPr id="108" name="Ellipse 108"/>
            <p:cNvSpPr/>
            <p:nvPr/>
          </p:nvSpPr>
          <p:spPr>
            <a:xfrm>
              <a:off x="9820275" y="26384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950768" y="2599849"/>
              <a:ext cx="9803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自动组装时间线</a:t>
              </a:r>
            </a:p>
          </p:txBody>
        </p:sp>
        <p:sp>
          <p:nvSpPr>
            <p:cNvPr id="110" name="Ellipse 110"/>
            <p:cNvSpPr/>
            <p:nvPr/>
          </p:nvSpPr>
          <p:spPr>
            <a:xfrm>
              <a:off x="9820275" y="300037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950768" y="2961799"/>
              <a:ext cx="8165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FFmpeg 合成</a:t>
              </a:r>
            </a:p>
          </p:txBody>
        </p:sp>
        <p:sp>
          <p:nvSpPr>
            <p:cNvPr id="112" name="Ellipse 112"/>
            <p:cNvSpPr/>
            <p:nvPr/>
          </p:nvSpPr>
          <p:spPr>
            <a:xfrm>
              <a:off x="9820275" y="3362325"/>
              <a:ext cx="57150" cy="5715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950768" y="3323749"/>
              <a:ext cx="9394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mock 导出回退</a:t>
              </a:r>
            </a:p>
          </p:txBody>
        </p:sp>
        <p:sp>
          <p:nvSpPr>
            <p:cNvPr id="114" name="Line 114"/>
            <p:cNvSpPr/>
            <p:nvPr/>
          </p:nvSpPr>
          <p:spPr>
            <a:xfrm>
              <a:off x="9810750" y="3733800"/>
              <a:ext cx="1638300" cy="9525"/>
            </a:xfrm>
            <a:custGeom>
              <a:avLst/>
              <a:gdLst/>
              <a:ahLst/>
              <a:cxnLst/>
              <a:rect l="l" t="t" r="r" b="b"/>
              <a:pathLst>
                <a:path w="1638300" h="9525">
                  <a:moveTo>
                    <a:pt x="0" y="0"/>
                  </a:moveTo>
                  <a:lnTo>
                    <a:pt x="16383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9810750" y="3886200"/>
              <a:ext cx="1638300" cy="647700"/>
            </a:xfrm>
            <a:prstGeom prst="roundRect">
              <a:avLst>
                <a:gd name="adj" fmla="val 11765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0241113" y="4006691"/>
              <a:ext cx="77757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STAGE OUTPUT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0435185" y="4243864"/>
              <a:ext cx="3894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成片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2695575" y="3409950"/>
            <a:ext cx="6953250" cy="228600"/>
            <a:chOff x="2695575" y="3409950"/>
            <a:chExt cx="6953250" cy="228600"/>
          </a:xfrm>
        </p:grpSpPr>
        <p:sp>
          <p:nvSpPr>
            <p:cNvPr id="119" name="Polygon 119"/>
            <p:cNvSpPr/>
            <p:nvPr/>
          </p:nvSpPr>
          <p:spPr>
            <a:xfrm>
              <a:off x="269557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0" name="Polygon 120"/>
            <p:cNvSpPr/>
            <p:nvPr/>
          </p:nvSpPr>
          <p:spPr>
            <a:xfrm>
              <a:off x="496252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1" name="Polygon 121"/>
            <p:cNvSpPr/>
            <p:nvPr/>
          </p:nvSpPr>
          <p:spPr>
            <a:xfrm>
              <a:off x="722947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22" name="Polygon 122"/>
            <p:cNvSpPr/>
            <p:nvPr/>
          </p:nvSpPr>
          <p:spPr>
            <a:xfrm>
              <a:off x="9496425" y="3409950"/>
              <a:ext cx="152400" cy="228600"/>
            </a:xfrm>
            <a:custGeom>
              <a:avLst/>
              <a:gdLst/>
              <a:ahLst/>
              <a:cxnLst/>
              <a:rect l="l" t="t" r="r" b="b"/>
              <a:pathLst>
                <a:path w="152400" h="228600">
                  <a:moveTo>
                    <a:pt x="0" y="0"/>
                  </a:moveTo>
                  <a:lnTo>
                    <a:pt x="1524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25" name="Group 125"/>
          <p:cNvGrpSpPr/>
          <p:nvPr/>
        </p:nvGrpSpPr>
        <p:grpSpPr>
          <a:xfrm>
            <a:off x="4139922" y="5944552"/>
            <a:ext cx="3912156" cy="213360"/>
            <a:chOff x="4139922" y="5944552"/>
            <a:chExt cx="3912156" cy="213360"/>
          </a:xfrm>
        </p:grpSpPr>
        <p:sp>
          <p:nvSpPr>
            <p:cNvPr id="124" name="TextBox 124"/>
            <p:cNvSpPr txBox="1"/>
            <p:nvPr/>
          </p:nvSpPr>
          <p:spPr>
            <a:xfrm>
              <a:off x="4139922" y="5944552"/>
              <a:ext cx="3912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文本 → 图片 → 视频 → 配音 → 成片 · 每阶段产出物可被下游复用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126" name="TextBox 126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07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0" grpId="0"/>
      <p:bldP spid="53" grpId="0"/>
      <p:bldP spid="74" grpId="0"/>
      <p:bldP spid="97" grpId="0"/>
      <p:bldP spid="118" grpId="0"/>
      <p:bldP spid="123" grpId="0"/>
      <p:bldP spid="1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创作工作流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36911" y="7629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VERSION LIFECYCLE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6399276" cy="243840"/>
            <a:chOff x="784860" y="1089660"/>
            <a:chExt cx="6399276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63992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文档遵循 draft → submitted → pending_review → approved / rejected 的审阅生命周期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2495550"/>
            <a:ext cx="1714500" cy="914400"/>
            <a:chOff x="762000" y="2495550"/>
            <a:chExt cx="1714500" cy="914400"/>
          </a:xfrm>
        </p:grpSpPr>
        <p:sp>
          <p:nvSpPr>
            <p:cNvPr id="9" name="Rectangle 9"/>
            <p:cNvSpPr/>
            <p:nvPr/>
          </p:nvSpPr>
          <p:spPr>
            <a:xfrm>
              <a:off x="762000" y="2495550"/>
              <a:ext cx="1714500" cy="91440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1081" y="2802731"/>
              <a:ext cx="229394" cy="215900"/>
              <a:chOff x="1031081" y="2802731"/>
              <a:chExt cx="229394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06500" y="2802731"/>
                <a:ext cx="5397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15900">
                    <a:moveTo>
                      <a:pt x="53975" y="188912"/>
                    </a:moveTo>
                    <a:lnTo>
                      <a:pt x="53975" y="26987"/>
                    </a:lnTo>
                    <a:cubicBezTo>
                      <a:pt x="53975" y="11861"/>
                      <a:pt x="42114" y="0"/>
                      <a:pt x="26987" y="0"/>
                    </a:cubicBezTo>
                    <a:cubicBezTo>
                      <a:pt x="11861" y="0"/>
                      <a:pt x="0" y="11861"/>
                      <a:pt x="0" y="26987"/>
                    </a:cubicBezTo>
                    <a:lnTo>
                      <a:pt x="0" y="188912"/>
                    </a:lnTo>
                    <a:lnTo>
                      <a:pt x="26987" y="215900"/>
                    </a:lnTo>
                    <a:lnTo>
                      <a:pt x="53975" y="18891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06500" y="2856706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31081" y="2910681"/>
                <a:ext cx="20240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07950">
                    <a:moveTo>
                      <a:pt x="202406" y="107950"/>
                    </a:moveTo>
                    <a:lnTo>
                      <a:pt x="26987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cubicBezTo>
                      <a:pt x="0" y="66058"/>
                      <a:pt x="12083" y="53975"/>
                      <a:pt x="26987" y="53975"/>
                    </a:cubicBezTo>
                    <a:lnTo>
                      <a:pt x="80962" y="53975"/>
                    </a:lnTo>
                    <a:cubicBezTo>
                      <a:pt x="95867" y="53975"/>
                      <a:pt x="107950" y="41892"/>
                      <a:pt x="107950" y="26988"/>
                    </a:cubicBezTo>
                    <a:cubicBezTo>
                      <a:pt x="107950" y="12083"/>
                      <a:pt x="95867" y="0"/>
                      <a:pt x="80962" y="0"/>
                    </a:cubicBezTo>
                    <a:lnTo>
                      <a:pt x="40481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0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草稿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99222" y="3035141"/>
              <a:ext cx="33862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DRAFT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048000" y="2495550"/>
            <a:ext cx="1714500" cy="914400"/>
            <a:chOff x="3048000" y="2495550"/>
            <a:chExt cx="1714500" cy="914400"/>
          </a:xfrm>
        </p:grpSpPr>
        <p:sp>
          <p:nvSpPr>
            <p:cNvPr id="17" name="Rectangle 17"/>
            <p:cNvSpPr/>
            <p:nvPr/>
          </p:nvSpPr>
          <p:spPr>
            <a:xfrm>
              <a:off x="3048000" y="249555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344069" y="2856706"/>
              <a:ext cx="202406" cy="134937"/>
            </a:xfrm>
            <a:custGeom>
              <a:avLst/>
              <a:gdLst/>
              <a:ahLst/>
              <a:cxnLst/>
              <a:rect l="l" t="t" r="r" b="b"/>
              <a:pathLst>
                <a:path w="202406" h="134937">
                  <a:moveTo>
                    <a:pt x="0" y="67469"/>
                  </a:moveTo>
                  <a:lnTo>
                    <a:pt x="67469" y="134937"/>
                  </a:lnTo>
                  <a:lnTo>
                    <a:pt x="202406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76650" y="27336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已提交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85222" y="3035141"/>
              <a:ext cx="5869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EF2FF"/>
                  </a:solidFill>
                  <a:latin typeface="Segoe UI"/>
                  <a:ea typeface="Microsoft YaHei"/>
                  <a:cs typeface="Segoe UI"/>
                </a:rPr>
                <a:t>SUBMITTED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0" y="2495550"/>
            <a:ext cx="1714500" cy="914400"/>
            <a:chOff x="5334000" y="2495550"/>
            <a:chExt cx="1714500" cy="914400"/>
          </a:xfrm>
        </p:grpSpPr>
        <p:sp>
          <p:nvSpPr>
            <p:cNvPr id="22" name="Rectangle 22"/>
            <p:cNvSpPr/>
            <p:nvPr/>
          </p:nvSpPr>
          <p:spPr>
            <a:xfrm>
              <a:off x="5334000" y="249555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06B6D4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603081" y="2802731"/>
              <a:ext cx="242888" cy="242887"/>
              <a:chOff x="5603081" y="2802731"/>
              <a:chExt cx="242888" cy="242887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5630069" y="280273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603081" y="296465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778500" y="280448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05488" y="296668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962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待审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71222" y="3035141"/>
              <a:ext cx="8468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CFEFF"/>
                  </a:solidFill>
                  <a:latin typeface="Segoe UI"/>
                  <a:ea typeface="Microsoft YaHei"/>
                  <a:cs typeface="Segoe UI"/>
                </a:rPr>
                <a:t>PENDING REVIEW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0" y="2495550"/>
            <a:ext cx="1714500" cy="914400"/>
            <a:chOff x="9144000" y="2495550"/>
            <a:chExt cx="1714500" cy="914400"/>
          </a:xfrm>
        </p:grpSpPr>
        <p:sp>
          <p:nvSpPr>
            <p:cNvPr id="31" name="Rectangle 31"/>
            <p:cNvSpPr/>
            <p:nvPr/>
          </p:nvSpPr>
          <p:spPr>
            <a:xfrm>
              <a:off x="9144000" y="2495550"/>
              <a:ext cx="1714500" cy="914400"/>
            </a:xfrm>
            <a:prstGeom prst="roundRect">
              <a:avLst>
                <a:gd name="adj" fmla="val 50000"/>
              </a:avLst>
            </a:prstGeom>
            <a:solidFill>
              <a:srgbClr val="10B98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9413081" y="2802731"/>
              <a:ext cx="242888" cy="242888"/>
              <a:chOff x="9413081" y="2802731"/>
              <a:chExt cx="242888" cy="2428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413081" y="280273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5"/>
                      <a:pt x="54372" y="242888"/>
                      <a:pt x="121444" y="242888"/>
                    </a:cubicBezTo>
                    <a:cubicBezTo>
                      <a:pt x="188515" y="242888"/>
                      <a:pt x="242888" y="188515"/>
                      <a:pt x="242888" y="121444"/>
                    </a:cubicBezTo>
                    <a:cubicBezTo>
                      <a:pt x="242888" y="54372"/>
                      <a:pt x="188515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494044" y="2897188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772650" y="273367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81222" y="3035141"/>
              <a:ext cx="55232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CFDF5"/>
                  </a:solidFill>
                  <a:latin typeface="Segoe UI"/>
                  <a:ea typeface="Microsoft YaHei"/>
                  <a:cs typeface="Segoe UI"/>
                </a:rPr>
                <a:t>APPROVED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4191000"/>
            <a:ext cx="1714500" cy="914400"/>
            <a:chOff x="5334000" y="4191000"/>
            <a:chExt cx="1714500" cy="914400"/>
          </a:xfrm>
        </p:grpSpPr>
        <p:sp>
          <p:nvSpPr>
            <p:cNvPr id="38" name="Rectangle 38"/>
            <p:cNvSpPr/>
            <p:nvPr/>
          </p:nvSpPr>
          <p:spPr>
            <a:xfrm>
              <a:off x="5334000" y="4191000"/>
              <a:ext cx="1714500" cy="914400"/>
            </a:xfrm>
            <a:prstGeom prst="roundRect">
              <a:avLst>
                <a:gd name="adj" fmla="val 14583"/>
              </a:avLst>
            </a:prstGeom>
            <a:solidFill>
              <a:srgbClr val="FFFFFF"/>
            </a:solidFill>
            <a:ln w="19050">
              <a:solidFill>
                <a:srgbClr val="EF444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5616575" y="4506469"/>
              <a:ext cx="215900" cy="226313"/>
              <a:chOff x="5616575" y="4506469"/>
              <a:chExt cx="215900" cy="22631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5616575" y="450646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215900" y="99663"/>
                    </a:moveTo>
                    <a:cubicBezTo>
                      <a:pt x="209116" y="50849"/>
                      <a:pt x="170505" y="12613"/>
                      <a:pt x="121628" y="6307"/>
                    </a:cubicBezTo>
                    <a:cubicBezTo>
                      <a:pt x="72751" y="0"/>
                      <a:pt x="25699" y="27183"/>
                      <a:pt x="6747" y="72675"/>
                    </a:cubicBezTo>
                    <a:moveTo>
                      <a:pt x="0" y="18700"/>
                    </a:moveTo>
                    <a:lnTo>
                      <a:pt x="0" y="72675"/>
                    </a:lnTo>
                    <a:lnTo>
                      <a:pt x="53975" y="72675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5616575" y="4633119"/>
                <a:ext cx="215900" cy="99663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99663">
                    <a:moveTo>
                      <a:pt x="0" y="0"/>
                    </a:moveTo>
                    <a:cubicBezTo>
                      <a:pt x="6784" y="48813"/>
                      <a:pt x="45395" y="87049"/>
                      <a:pt x="94272" y="93356"/>
                    </a:cubicBezTo>
                    <a:cubicBezTo>
                      <a:pt x="143149" y="99663"/>
                      <a:pt x="190201" y="72480"/>
                      <a:pt x="209153" y="26987"/>
                    </a:cubicBezTo>
                    <a:moveTo>
                      <a:pt x="215900" y="80962"/>
                    </a:moveTo>
                    <a:lnTo>
                      <a:pt x="215900" y="26987"/>
                    </a:lnTo>
                    <a:lnTo>
                      <a:pt x="161925" y="26987"/>
                    </a:lnTo>
                  </a:path>
                </a:pathLst>
              </a:custGeom>
              <a:noFill/>
              <a:ln w="19050">
                <a:solidFill>
                  <a:srgbClr val="EF4444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62650" y="44291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驳回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71222" y="4730591"/>
              <a:ext cx="52921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REJECTED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19250" y="2743200"/>
            <a:ext cx="7448550" cy="2038350"/>
            <a:chOff x="1619250" y="2743200"/>
            <a:chExt cx="7448550" cy="2038350"/>
          </a:xfrm>
        </p:grpSpPr>
        <p:sp>
          <p:nvSpPr>
            <p:cNvPr id="45" name="Line 45"/>
            <p:cNvSpPr/>
            <p:nvPr/>
          </p:nvSpPr>
          <p:spPr>
            <a:xfrm>
              <a:off x="2495550" y="2952750"/>
              <a:ext cx="476250" cy="1"/>
            </a:xfrm>
            <a:prstGeom prst="line">
              <a:avLst/>
            </a:prstGeom>
            <a:noFill/>
            <a:ln w="23812">
              <a:solidFill>
                <a:srgbClr val="64748B"/>
              </a:solidFill>
              <a:tailEnd type="triangle" w="lg" len="lg"/>
            </a:ln>
          </p:spPr>
        </p:sp>
        <p:sp>
          <p:nvSpPr>
            <p:cNvPr id="46" name="Line 46"/>
            <p:cNvSpPr/>
            <p:nvPr/>
          </p:nvSpPr>
          <p:spPr>
            <a:xfrm>
              <a:off x="4781550" y="2952750"/>
              <a:ext cx="476250" cy="1"/>
            </a:xfrm>
            <a:prstGeom prst="line">
              <a:avLst/>
            </a:prstGeom>
            <a:noFill/>
            <a:ln w="23812">
              <a:solidFill>
                <a:srgbClr val="64748B"/>
              </a:solidFill>
              <a:tailEnd type="triangle" w="lg" len="lg"/>
            </a:ln>
          </p:spPr>
        </p:sp>
        <p:sp>
          <p:nvSpPr>
            <p:cNvPr id="47" name="Line 47"/>
            <p:cNvSpPr/>
            <p:nvPr/>
          </p:nvSpPr>
          <p:spPr>
            <a:xfrm>
              <a:off x="7067550" y="2952750"/>
              <a:ext cx="2000250" cy="1"/>
            </a:xfrm>
            <a:prstGeom prst="line">
              <a:avLst/>
            </a:prstGeom>
            <a:noFill/>
            <a:ln w="23812">
              <a:solidFill>
                <a:srgbClr val="10B981"/>
              </a:solidFill>
              <a:tailEnd type="triangle" w="lg" len="lg"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810500" y="2743200"/>
              <a:ext cx="514350" cy="20955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 w="9525">
              <a:solidFill>
                <a:srgbClr val="A7F3D0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30229" y="279844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通过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191250" y="3429000"/>
              <a:ext cx="1" cy="685800"/>
            </a:xfrm>
            <a:prstGeom prst="line">
              <a:avLst/>
            </a:prstGeom>
            <a:noFill/>
            <a:ln w="23812">
              <a:solidFill>
                <a:srgbClr val="EF4444"/>
              </a:solidFill>
              <a:tailEnd type="triangle" w="lg" len="lg"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34075" y="3638550"/>
              <a:ext cx="514350" cy="209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ECAC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53804" y="3693795"/>
              <a:ext cx="2748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驳回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619250" y="3429000"/>
              <a:ext cx="3714750" cy="1219200"/>
            </a:xfrm>
            <a:custGeom>
              <a:avLst/>
              <a:gdLst/>
              <a:ahLst/>
              <a:cxnLst/>
              <a:rect l="l" t="t" r="r" b="b"/>
              <a:pathLst>
                <a:path w="3714750" h="1219200">
                  <a:moveTo>
                    <a:pt x="3714750" y="1219200"/>
                  </a:moveTo>
                  <a:lnTo>
                    <a:pt x="0" y="1219200"/>
                  </a:ln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EF4444"/>
              </a:solidFill>
              <a:custDash>
                <a:ds d="320000" sp="200000"/>
              </a:custDash>
              <a:tailEnd type="triangle" w="lg" len="lg"/>
            </a:ln>
          </p:spPr>
        </p:sp>
        <p:sp>
          <p:nvSpPr>
            <p:cNvPr id="54" name="Rectangle 54"/>
            <p:cNvSpPr/>
            <p:nvPr/>
          </p:nvSpPr>
          <p:spPr>
            <a:xfrm>
              <a:off x="3028950" y="4543425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FECAC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222689" y="45986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EF4444"/>
                  </a:solidFill>
                  <a:latin typeface="Segoe UI"/>
                  <a:ea typeface="Microsoft YaHei"/>
                  <a:cs typeface="Segoe UI"/>
                </a:rPr>
                <a:t>重新修改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09600" y="5410200"/>
            <a:ext cx="10972800" cy="838200"/>
            <a:chOff x="609600" y="5410200"/>
            <a:chExt cx="10972800" cy="838200"/>
          </a:xfrm>
        </p:grpSpPr>
        <p:sp>
          <p:nvSpPr>
            <p:cNvPr id="57" name="Rectangle 57"/>
            <p:cNvSpPr/>
            <p:nvPr/>
          </p:nvSpPr>
          <p:spPr>
            <a:xfrm>
              <a:off x="609600" y="5410200"/>
              <a:ext cx="10972800" cy="838200"/>
            </a:xfrm>
            <a:prstGeom prst="roundRect">
              <a:avLst>
                <a:gd name="adj" fmla="val 15909"/>
              </a:avLst>
            </a:prstGeom>
            <a:solidFill>
              <a:srgbClr val="F8FAFC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925" y="5650706"/>
              <a:ext cx="1496402" cy="442913"/>
              <a:chOff x="923925" y="5650706"/>
              <a:chExt cx="1496402" cy="442913"/>
            </a:xfrm>
          </p:grpSpPr>
          <p:grpSp>
            <p:nvGrpSpPr>
              <p:cNvPr id="60" name="Group 60"/>
              <p:cNvGrpSpPr/>
              <p:nvPr/>
            </p:nvGrpSpPr>
            <p:grpSpPr>
              <a:xfrm>
                <a:off x="923925" y="5748338"/>
                <a:ext cx="190500" cy="142875"/>
                <a:chOff x="923925" y="5748338"/>
                <a:chExt cx="190500" cy="142875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923925" y="5748338"/>
                  <a:ext cx="190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0">
                      <a:moveTo>
                        <a:pt x="95250" y="0"/>
                      </a:moveTo>
                      <a:lnTo>
                        <a:pt x="0" y="47625"/>
                      </a:lnTo>
                      <a:lnTo>
                        <a:pt x="95250" y="95250"/>
                      </a:lnTo>
                      <a:lnTo>
                        <a:pt x="190500" y="47625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923925" y="5843588"/>
                  <a:ext cx="190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47625">
                      <a:moveTo>
                        <a:pt x="0" y="0"/>
                      </a:moveTo>
                      <a:lnTo>
                        <a:pt x="95250" y="47625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rgbClr val="4F46E5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124301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规则集中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1244918" y="5895499"/>
                <a:ext cx="117540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Consolas"/>
                    <a:ea typeface="Microsoft YaHei"/>
                    <a:cs typeface="Consolas"/>
                  </a:rPr>
                  <a:t>business-rules.ts</a:t>
                </a:r>
              </a:p>
            </p:txBody>
          </p:sp>
        </p:grpSp>
        <p:sp>
          <p:nvSpPr>
            <p:cNvPr id="64" name="Line 64"/>
            <p:cNvSpPr/>
            <p:nvPr/>
          </p:nvSpPr>
          <p:spPr>
            <a:xfrm>
              <a:off x="4095750" y="5581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4429125" y="5650706"/>
              <a:ext cx="1684925" cy="442913"/>
              <a:chOff x="4429125" y="5650706"/>
              <a:chExt cx="1684925" cy="442913"/>
            </a:xfrm>
          </p:grpSpPr>
          <p:grpSp>
            <p:nvGrpSpPr>
              <p:cNvPr id="67" name="Group 67"/>
              <p:cNvGrpSpPr/>
              <p:nvPr/>
            </p:nvGrpSpPr>
            <p:grpSpPr>
              <a:xfrm>
                <a:off x="4429125" y="5719931"/>
                <a:ext cx="190500" cy="199688"/>
                <a:chOff x="4429125" y="5719931"/>
                <a:chExt cx="190500" cy="199688"/>
              </a:xfrm>
            </p:grpSpPr>
            <p:sp>
              <p:nvSpPr>
                <p:cNvPr id="65" name="Freeform 65"/>
                <p:cNvSpPr/>
                <p:nvPr/>
              </p:nvSpPr>
              <p:spPr>
                <a:xfrm>
                  <a:off x="4429125" y="5719931"/>
                  <a:ext cx="190500" cy="8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87938">
                      <a:moveTo>
                        <a:pt x="190500" y="87938"/>
                      </a:moveTo>
                      <a:cubicBezTo>
                        <a:pt x="184514" y="44867"/>
                        <a:pt x="150446" y="11129"/>
                        <a:pt x="107319" y="5565"/>
                      </a:cubicBezTo>
                      <a:cubicBezTo>
                        <a:pt x="64192" y="0"/>
                        <a:pt x="22676" y="23985"/>
                        <a:pt x="5953" y="64125"/>
                      </a:cubicBezTo>
                      <a:moveTo>
                        <a:pt x="0" y="16500"/>
                      </a:moveTo>
                      <a:lnTo>
                        <a:pt x="0" y="64125"/>
                      </a:lnTo>
                      <a:lnTo>
                        <a:pt x="47625" y="64125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66" name="Freeform 66"/>
                <p:cNvSpPr/>
                <p:nvPr/>
              </p:nvSpPr>
              <p:spPr>
                <a:xfrm>
                  <a:off x="4429125" y="5831681"/>
                  <a:ext cx="190500" cy="87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87938">
                      <a:moveTo>
                        <a:pt x="0" y="0"/>
                      </a:moveTo>
                      <a:cubicBezTo>
                        <a:pt x="5986" y="43070"/>
                        <a:pt x="40054" y="76808"/>
                        <a:pt x="83181" y="82373"/>
                      </a:cubicBezTo>
                      <a:cubicBezTo>
                        <a:pt x="126308" y="87938"/>
                        <a:pt x="167824" y="63953"/>
                        <a:pt x="184547" y="23812"/>
                      </a:cubicBezTo>
                      <a:moveTo>
                        <a:pt x="190500" y="71438"/>
                      </a:moveTo>
                      <a:lnTo>
                        <a:pt x="190500" y="23812"/>
                      </a:lnTo>
                      <a:lnTo>
                        <a:pt x="142875" y="23812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68" name="TextBox 68"/>
              <p:cNvSpPr txBox="1"/>
              <p:nvPr/>
            </p:nvSpPr>
            <p:spPr>
              <a:xfrm>
                <a:off x="474821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版本管理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4750118" y="589549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采纳 · 还原 · 差异对比</a:t>
                </a:r>
              </a:p>
            </p:txBody>
          </p:sp>
        </p:grpSp>
        <p:sp>
          <p:nvSpPr>
            <p:cNvPr id="71" name="Line 71"/>
            <p:cNvSpPr/>
            <p:nvPr/>
          </p:nvSpPr>
          <p:spPr>
            <a:xfrm>
              <a:off x="7810500" y="55816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155781" y="5650706"/>
              <a:ext cx="2401110" cy="442913"/>
              <a:chOff x="8155781" y="5650706"/>
              <a:chExt cx="2401110" cy="44291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8155781" y="571261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95250" y="0"/>
                    </a:moveTo>
                    <a:lnTo>
                      <a:pt x="95250" y="83344"/>
                    </a:lnTo>
                    <a:lnTo>
                      <a:pt x="166688" y="83344"/>
                    </a:lnTo>
                    <a:lnTo>
                      <a:pt x="71438" y="214312"/>
                    </a:lnTo>
                    <a:lnTo>
                      <a:pt x="71438" y="130969"/>
                    </a:lnTo>
                    <a:lnTo>
                      <a:pt x="0" y="130969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8462962" y="56507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实时同步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464868" y="5895499"/>
                <a:ext cx="20920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剧本 ↔ 世界观角色 WebSocket 双向</a:t>
                </a:r>
              </a:p>
            </p:txBody>
          </p:sp>
        </p:grpSp>
      </p:grpSp>
      <p:grpSp>
        <p:nvGrpSpPr>
          <p:cNvPr id="79" name="Group 79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7" name="TextBox 77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08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1" grpId="0"/>
      <p:bldP spid="30" grpId="0"/>
      <p:bldP spid="37" grpId="0"/>
      <p:bldP spid="44" grpId="0"/>
      <p:bldP spid="56" grpId="0"/>
      <p:bldP spid="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3" name="Rectangle 3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5810" y="5848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工作区与协作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336911" y="762952"/>
              <a:ext cx="12588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WORKSPACE MODES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4860" y="1089660"/>
            <a:ext cx="3078861" cy="243840"/>
            <a:chOff x="784860" y="1089660"/>
            <a:chExt cx="3078861" cy="243840"/>
          </a:xfrm>
        </p:grpSpPr>
        <p:sp>
          <p:nvSpPr>
            <p:cNvPr id="7" name="TextBox 7"/>
            <p:cNvSpPr txBox="1"/>
            <p:nvPr/>
          </p:nvSpPr>
          <p:spPr>
            <a:xfrm>
              <a:off x="784860" y="1089660"/>
              <a:ext cx="30788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 xml:space="preserve">统一工作区通过 URL </a:t>
              </a:r>
              <a:r>
                <a:rPr lang="zh-CN" sz="1200" b="1" dirty="0">
                  <a:solidFill>
                    <a:srgbClr val="4F46E5"/>
                  </a:solidFill>
                  <a:latin typeface="Consolas"/>
                  <a:ea typeface="Microsoft YaHei"/>
                  <a:cs typeface="Consolas"/>
                </a:rPr>
                <a:t>?mode=</a:t>
              </a:r>
              <a:r>
                <a:rPr lang="zh-CN" sz="120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 xml:space="preserve"> 切换四种模式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1524000"/>
            <a:ext cx="5372100" cy="2286000"/>
            <a:chOff x="609600" y="1524000"/>
            <a:chExt cx="5372100" cy="22860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2650" y="15240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96495" y="1683068"/>
              <a:ext cx="9983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信息 · info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38200" y="22098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66800" y="2438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190625" y="2562225"/>
              <a:ext cx="285750" cy="285750"/>
              <a:chOff x="1190625" y="2562225"/>
              <a:chExt cx="285750" cy="285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90625" y="25622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33500" y="2657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17625" y="2705100"/>
                <a:ext cx="317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63500">
                    <a:moveTo>
                      <a:pt x="0" y="0"/>
                    </a:moveTo>
                    <a:lnTo>
                      <a:pt x="15875" y="0"/>
                    </a:lnTo>
                    <a:lnTo>
                      <a:pt x="15875" y="63500"/>
                    </a:lnTo>
                    <a:lnTo>
                      <a:pt x="31750" y="6350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731645" y="25079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项目信息面板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41170" y="2817495"/>
              <a:ext cx="6592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INFO MODE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2512" y="3174206"/>
              <a:ext cx="1873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项目概览 · 配置 · 成员管理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2512" y="3402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查看元信息与审阅策略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10300" y="1524000"/>
            <a:ext cx="5372100" cy="2286000"/>
            <a:chOff x="6210300" y="1524000"/>
            <a:chExt cx="5372100" cy="2286000"/>
          </a:xfrm>
        </p:grpSpPr>
        <p:sp>
          <p:nvSpPr>
            <p:cNvPr id="23" name="Rectangle 23"/>
            <p:cNvSpPr/>
            <p:nvPr/>
          </p:nvSpPr>
          <p:spPr>
            <a:xfrm>
              <a:off x="6210300" y="15240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CFEFF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7753350" y="15240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06B6D4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46738" y="1683068"/>
              <a:ext cx="14992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文档 · document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38900" y="22098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24384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EF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823075" y="2562225"/>
              <a:ext cx="222250" cy="285750"/>
              <a:chOff x="6823075" y="2562225"/>
              <a:chExt cx="222250" cy="28575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965950" y="25622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823075" y="2562225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886575" y="2657475"/>
                <a:ext cx="15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9525">
                    <a:moveTo>
                      <a:pt x="0" y="0"/>
                    </a:moveTo>
                    <a:lnTo>
                      <a:pt x="15875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886575" y="27209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886575" y="27844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332345" y="250793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文档主模式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41870" y="2817495"/>
              <a:ext cx="99318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DOCUMENT MODE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3212" y="3174206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查看 · 编辑 · 生成 · 版本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53212" y="3402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世界观与媒体映射于此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09600" y="3962400"/>
            <a:ext cx="5372100" cy="2286000"/>
            <a:chOff x="609600" y="3962400"/>
            <a:chExt cx="5372100" cy="2286000"/>
          </a:xfrm>
        </p:grpSpPr>
        <p:sp>
          <p:nvSpPr>
            <p:cNvPr id="39" name="Rectangle 39"/>
            <p:cNvSpPr/>
            <p:nvPr/>
          </p:nvSpPr>
          <p:spPr>
            <a:xfrm>
              <a:off x="609600" y="39624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2152650" y="39624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10B98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20885" y="412146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任务 · tasks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8200" y="46482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66800" y="48768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198562" y="5024438"/>
              <a:ext cx="261938" cy="230187"/>
              <a:chOff x="1198562" y="5024438"/>
              <a:chExt cx="261938" cy="23018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98562" y="502443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98562" y="511968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98562" y="5214938"/>
                <a:ext cx="6350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9687">
                    <a:moveTo>
                      <a:pt x="0" y="15875"/>
                    </a:moveTo>
                    <a:lnTo>
                      <a:pt x="23813" y="39687"/>
                    </a:lnTo>
                    <a:lnTo>
                      <a:pt x="63500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317625" y="50482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317625" y="51435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317625" y="5238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731645" y="49463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任务面板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741170" y="5255895"/>
              <a:ext cx="7348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TASKS MODE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2512" y="56126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生成任务跟踪与状态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2512" y="58412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批量作业与重试管理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210300" y="3962400"/>
            <a:ext cx="5372100" cy="2286000"/>
            <a:chOff x="6210300" y="3962400"/>
            <a:chExt cx="5372100" cy="2286000"/>
          </a:xfrm>
        </p:grpSpPr>
        <p:sp>
          <p:nvSpPr>
            <p:cNvPr id="56" name="Rectangle 56"/>
            <p:cNvSpPr/>
            <p:nvPr/>
          </p:nvSpPr>
          <p:spPr>
            <a:xfrm>
              <a:off x="6210300" y="3962400"/>
              <a:ext cx="5372100" cy="2286000"/>
            </a:xfrm>
            <a:prstGeom prst="roundRect">
              <a:avLst>
                <a:gd name="adj" fmla="val 8333"/>
              </a:avLst>
            </a:prstGeom>
            <a:solidFill>
              <a:srgbClr val="EEF2FF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7753350" y="3962400"/>
              <a:ext cx="2286000" cy="457200"/>
            </a:xfrm>
            <a:custGeom>
              <a:avLst/>
              <a:gdLst/>
              <a:ahLst/>
              <a:cxnLst/>
              <a:rect l="l" t="t" r="r" b="b"/>
              <a:pathLst>
                <a:path w="2286000" h="457200">
                  <a:moveTo>
                    <a:pt x="228600" y="0"/>
                  </a:moveTo>
                  <a:cubicBezTo>
                    <a:pt x="102348" y="0"/>
                    <a:pt x="0" y="102348"/>
                    <a:pt x="0" y="228600"/>
                  </a:cubicBezTo>
                  <a:lnTo>
                    <a:pt x="0" y="457200"/>
                  </a:lnTo>
                  <a:lnTo>
                    <a:pt x="2286000" y="457200"/>
                  </a:lnTo>
                  <a:lnTo>
                    <a:pt x="2286000" y="228600"/>
                  </a:lnTo>
                  <a:cubicBezTo>
                    <a:pt x="2286000" y="102348"/>
                    <a:pt x="2183652" y="0"/>
                    <a:pt x="2057400" y="0"/>
                  </a:cubicBezTo>
                  <a:close/>
                </a:path>
              </a:pathLst>
            </a:custGeom>
            <a:solidFill>
              <a:srgbClr val="4F46E5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123111" y="4121468"/>
              <a:ext cx="15464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时间线 · timeline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38900" y="4648200"/>
              <a:ext cx="4914900" cy="1409700"/>
            </a:xfrm>
            <a:prstGeom prst="roundRect">
              <a:avLst>
                <a:gd name="adj" fmla="val 810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48768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EF2F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791325" y="5064125"/>
              <a:ext cx="285750" cy="158750"/>
              <a:chOff x="6791325" y="5064125"/>
              <a:chExt cx="285750" cy="15875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807200" y="50800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0" y="127000"/>
                    </a:moveTo>
                    <a:lnTo>
                      <a:pt x="95250" y="15875"/>
                    </a:lnTo>
                    <a:lnTo>
                      <a:pt x="174625" y="9525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65950" y="51593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886575" y="50800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91325" y="5191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045325" y="5064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7332345" y="49463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时间线编辑器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41870" y="525589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TIMELINE MODE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653212" y="561260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自动组装 · 拖拽编辑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653212" y="5841206"/>
              <a:ext cx="19413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导出提交与 WebSocket 轮询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72" name="TextBox 72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09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38" grpId="0"/>
      <p:bldP spid="55" grpId="0"/>
      <p:bldP spid="7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76250" y="190500"/>
            <a:ext cx="10953750" cy="6572250"/>
            <a:chOff x="476250" y="190500"/>
            <a:chExt cx="10953750" cy="6572250"/>
          </a:xfrm>
        </p:grpSpPr>
        <p:sp>
          <p:nvSpPr>
            <p:cNvPr id="3" name="Ellipse 3"/>
            <p:cNvSpPr/>
            <p:nvPr/>
          </p:nvSpPr>
          <p:spPr>
            <a:xfrm>
              <a:off x="9525000" y="190500"/>
              <a:ext cx="1905000" cy="1905000"/>
            </a:xfrm>
            <a:prstGeom prst="ellipse">
              <a:avLst/>
            </a:prstGeom>
            <a:solidFill>
              <a:srgbClr val="10B981">
                <a:alpha val="5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476250" y="4667250"/>
              <a:ext cx="2095500" cy="2095500"/>
            </a:xfrm>
            <a:prstGeom prst="ellipse">
              <a:avLst/>
            </a:prstGeom>
            <a:solidFill>
              <a:srgbClr val="06B6D4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10986135" cy="561975"/>
            <a:chOff x="609600" y="571500"/>
            <a:chExt cx="10986135" cy="561975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3810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5810" y="5848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项目状态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02944" y="7629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CURRENT STATE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82955" y="1378268"/>
            <a:ext cx="5200936" cy="274320"/>
            <a:chOff x="782955" y="1378268"/>
            <a:chExt cx="5200936" cy="274320"/>
          </a:xfrm>
        </p:grpSpPr>
        <p:sp>
          <p:nvSpPr>
            <p:cNvPr id="10" name="TextBox 10"/>
            <p:cNvSpPr txBox="1"/>
            <p:nvPr/>
          </p:nvSpPr>
          <p:spPr>
            <a:xfrm>
              <a:off x="782955" y="1378268"/>
              <a:ext cx="5200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开发就绪 —— 关键能力已落地，部分基础设施面向未来产品化演进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3494" y="2157412"/>
            <a:ext cx="1877770" cy="609600"/>
            <a:chOff x="1283494" y="2157412"/>
            <a:chExt cx="1877770" cy="609600"/>
          </a:xfrm>
        </p:grpSpPr>
        <p:grpSp>
          <p:nvGrpSpPr>
            <p:cNvPr id="14" name="Group 14"/>
            <p:cNvGrpSpPr/>
            <p:nvPr/>
          </p:nvGrpSpPr>
          <p:grpSpPr>
            <a:xfrm>
              <a:off x="1283494" y="2197894"/>
              <a:ext cx="271462" cy="271462"/>
              <a:chOff x="1283494" y="2197894"/>
              <a:chExt cx="271462" cy="27146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283494" y="21978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73981" y="2303462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685925" y="2157412"/>
              <a:ext cx="1002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已就绪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1165" y="2553652"/>
              <a:ext cx="1460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0B981"/>
                  </a:solidFill>
                  <a:latin typeface="Segoe UI"/>
                  <a:ea typeface="Microsoft YaHei"/>
                  <a:cs typeface="Segoe UI"/>
                </a:rPr>
                <a:t>READY · 5 项关键能力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323975" y="3151346"/>
            <a:ext cx="2878740" cy="2346960"/>
            <a:chOff x="1323975" y="3151346"/>
            <a:chExt cx="2878740" cy="2346960"/>
          </a:xfrm>
        </p:grpSpPr>
        <p:grpSp>
          <p:nvGrpSpPr>
            <p:cNvPr id="20" name="Group 20"/>
            <p:cNvGrpSpPr/>
            <p:nvPr/>
          </p:nvGrpSpPr>
          <p:grpSpPr>
            <a:xfrm>
              <a:off x="1323975" y="3151346"/>
              <a:ext cx="2878740" cy="289560"/>
              <a:chOff x="1323975" y="3151346"/>
              <a:chExt cx="2878740" cy="289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323975" y="31908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620202" y="3151346"/>
                <a:ext cx="2582513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PostgreSQL + Prisma 持久化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323975" y="3665696"/>
              <a:ext cx="2061638" cy="289560"/>
              <a:chOff x="1323975" y="3665696"/>
              <a:chExt cx="2061638" cy="28956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323975" y="37052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620202" y="3665696"/>
                <a:ext cx="1765411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轮询 Worker 任务流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323975" y="4180046"/>
              <a:ext cx="2080641" cy="289560"/>
              <a:chOff x="1323975" y="4180046"/>
              <a:chExt cx="2080641" cy="28956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323975" y="42195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20202" y="4180046"/>
                <a:ext cx="17844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Socket.IO 实时更新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323975" y="4694396"/>
              <a:ext cx="2669714" cy="289560"/>
              <a:chOff x="1323975" y="4694396"/>
              <a:chExt cx="2669714" cy="28956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323975" y="473392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620202" y="4694396"/>
                <a:ext cx="2373487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provider 对接 + mock 回退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323975" y="5208746"/>
              <a:ext cx="1814607" cy="289560"/>
              <a:chOff x="1323975" y="5208746"/>
              <a:chExt cx="1814607" cy="28956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323975" y="5248275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10B98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620202" y="5208746"/>
                <a:ext cx="151838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FFmpeg 视频导出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6096000" y="2152650"/>
            <a:ext cx="9525" cy="3429000"/>
            <a:chOff x="6096000" y="2152650"/>
            <a:chExt cx="9525" cy="3429000"/>
          </a:xfrm>
        </p:grpSpPr>
        <p:sp>
          <p:nvSpPr>
            <p:cNvPr id="34" name="Line 34"/>
            <p:cNvSpPr/>
            <p:nvPr/>
          </p:nvSpPr>
          <p:spPr>
            <a:xfrm>
              <a:off x="6096000" y="215265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807994" y="2157412"/>
            <a:ext cx="2061543" cy="609600"/>
            <a:chOff x="6807994" y="2157412"/>
            <a:chExt cx="2061543" cy="609600"/>
          </a:xfrm>
        </p:grpSpPr>
        <p:grpSp>
          <p:nvGrpSpPr>
            <p:cNvPr id="38" name="Group 38"/>
            <p:cNvGrpSpPr/>
            <p:nvPr/>
          </p:nvGrpSpPr>
          <p:grpSpPr>
            <a:xfrm>
              <a:off x="6807994" y="2197894"/>
              <a:ext cx="271462" cy="271462"/>
              <a:chOff x="6807994" y="2197894"/>
              <a:chExt cx="271462" cy="27146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807994" y="2197894"/>
                <a:ext cx="271462" cy="271462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71462">
                    <a:moveTo>
                      <a:pt x="0" y="135731"/>
                    </a:moveTo>
                    <a:cubicBezTo>
                      <a:pt x="0" y="210694"/>
                      <a:pt x="60769" y="271462"/>
                      <a:pt x="135731" y="271462"/>
                    </a:cubicBezTo>
                    <a:cubicBezTo>
                      <a:pt x="210694" y="271462"/>
                      <a:pt x="271462" y="210694"/>
                      <a:pt x="271462" y="135731"/>
                    </a:cubicBezTo>
                    <a:cubicBezTo>
                      <a:pt x="271462" y="60769"/>
                      <a:pt x="210694" y="0"/>
                      <a:pt x="135731" y="0"/>
                    </a:cubicBezTo>
                    <a:cubicBezTo>
                      <a:pt x="60769" y="0"/>
                      <a:pt x="0" y="60769"/>
                      <a:pt x="0" y="135731"/>
                    </a:cubicBez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43725" y="2258219"/>
                <a:ext cx="45244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45244" h="120650">
                    <a:moveTo>
                      <a:pt x="0" y="0"/>
                    </a:moveTo>
                    <a:lnTo>
                      <a:pt x="0" y="75406"/>
                    </a:lnTo>
                    <a:lnTo>
                      <a:pt x="45244" y="120650"/>
                    </a:lnTo>
                  </a:path>
                </a:pathLst>
              </a:custGeom>
              <a:noFill/>
              <a:ln w="19050">
                <a:solidFill>
                  <a:srgbClr val="06B6D4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7210425" y="2157412"/>
              <a:ext cx="100226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规划中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5665" y="2553652"/>
              <a:ext cx="16438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6B6D4"/>
                  </a:solidFill>
                  <a:latin typeface="Segoe UI"/>
                  <a:ea typeface="Microsoft YaHei"/>
                  <a:cs typeface="Segoe UI"/>
                </a:rPr>
                <a:t>PLANNED · 面向未来演进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829425" y="3179921"/>
            <a:ext cx="3168015" cy="1289685"/>
            <a:chOff x="6829425" y="3179921"/>
            <a:chExt cx="3168015" cy="1289685"/>
          </a:xfrm>
        </p:grpSpPr>
        <p:grpSp>
          <p:nvGrpSpPr>
            <p:cNvPr id="47" name="Group 47"/>
            <p:cNvGrpSpPr/>
            <p:nvPr/>
          </p:nvGrpSpPr>
          <p:grpSpPr>
            <a:xfrm>
              <a:off x="6829425" y="3179921"/>
              <a:ext cx="3168015" cy="508635"/>
              <a:chOff x="6829425" y="3179921"/>
              <a:chExt cx="3168015" cy="508635"/>
            </a:xfrm>
          </p:grpSpPr>
          <p:grpSp>
            <p:nvGrpSpPr>
              <p:cNvPr id="44" name="Group 44"/>
              <p:cNvGrpSpPr/>
              <p:nvPr/>
            </p:nvGrpSpPr>
            <p:grpSpPr>
              <a:xfrm>
                <a:off x="6829425" y="3248025"/>
                <a:ext cx="171450" cy="171450"/>
                <a:chOff x="6829425" y="3248025"/>
                <a:chExt cx="171450" cy="17145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829425" y="324802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915150" y="328612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7144702" y="3179921"/>
                <a:ext cx="2154960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Redis / BullMQ 任务队列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148512" y="3459956"/>
                <a:ext cx="28489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替代当前轮询 worker，提升吞吐与可靠性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829425" y="3960971"/>
              <a:ext cx="2597943" cy="508635"/>
              <a:chOff x="6829425" y="3960971"/>
              <a:chExt cx="2597943" cy="508635"/>
            </a:xfrm>
          </p:grpSpPr>
          <p:grpSp>
            <p:nvGrpSpPr>
              <p:cNvPr id="50" name="Group 50"/>
              <p:cNvGrpSpPr/>
              <p:nvPr/>
            </p:nvGrpSpPr>
            <p:grpSpPr>
              <a:xfrm>
                <a:off x="6829425" y="4029075"/>
                <a:ext cx="171450" cy="171450"/>
                <a:chOff x="6829425" y="4029075"/>
                <a:chExt cx="171450" cy="1714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829425" y="4029075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915150" y="4067175"/>
                  <a:ext cx="285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76200">
                      <a:moveTo>
                        <a:pt x="0" y="0"/>
                      </a:moveTo>
                      <a:lnTo>
                        <a:pt x="0" y="47625"/>
                      </a:lnTo>
                      <a:lnTo>
                        <a:pt x="28575" y="76200"/>
                      </a:lnTo>
                    </a:path>
                  </a:pathLst>
                </a:custGeom>
                <a:noFill/>
                <a:ln w="19050">
                  <a:solidFill>
                    <a:srgbClr val="06B6D4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7144702" y="3960971"/>
                <a:ext cx="986314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dirty="0">
                    <a:solidFill>
                      <a:srgbClr val="1E293B"/>
                    </a:solidFill>
                    <a:latin typeface="Segoe UI"/>
                    <a:ea typeface="Microsoft YaHei"/>
                    <a:cs typeface="Segoe UI"/>
                  </a:rPr>
                  <a:t>生产化加固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48512" y="42410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64748B"/>
                    </a:solidFill>
                    <a:latin typeface="Segoe UI"/>
                    <a:ea typeface="Microsoft YaHei"/>
                    <a:cs typeface="Segoe UI"/>
                  </a:rPr>
                  <a:t>可观测性、限流、部署与运维完善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97218" y="6447949"/>
            <a:ext cx="10997564" cy="198120"/>
            <a:chOff x="597218" y="6447949"/>
            <a:chExt cx="10997564" cy="198120"/>
          </a:xfrm>
        </p:grpSpPr>
        <p:sp>
          <p:nvSpPr>
            <p:cNvPr id="55" name="TextBox 55"/>
            <p:cNvSpPr txBox="1"/>
            <p:nvPr/>
          </p:nvSpPr>
          <p:spPr>
            <a:xfrm>
              <a:off x="597218" y="6447949"/>
              <a:ext cx="6878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DramaFlow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34463" y="644794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10 / 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3" grpId="0"/>
      <p:bldP spid="35" grpId="0"/>
      <p:bldP spid="5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-285750" y="-285750"/>
            <a:ext cx="12573000" cy="7429500"/>
            <a:chOff x="-285750" y="-285750"/>
            <a:chExt cx="12573000" cy="7429500"/>
          </a:xfrm>
        </p:grpSpPr>
        <p:sp>
          <p:nvSpPr>
            <p:cNvPr id="3" name="Ellipse 3"/>
            <p:cNvSpPr/>
            <p:nvPr/>
          </p:nvSpPr>
          <p:spPr>
            <a:xfrm>
              <a:off x="-285750" y="-285750"/>
              <a:ext cx="3048000" cy="3048000"/>
            </a:xfrm>
            <a:prstGeom prst="ellipse">
              <a:avLst/>
            </a:prstGeom>
            <a:solidFill>
              <a:srgbClr val="4F46E5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95250" y="1238250"/>
              <a:ext cx="1524000" cy="1524000"/>
            </a:xfrm>
            <a:prstGeom prst="ellipse">
              <a:avLst/>
            </a:prstGeom>
            <a:solidFill>
              <a:srgbClr val="06B6D4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429750" y="4286250"/>
              <a:ext cx="2857500" cy="2857500"/>
            </a:xfrm>
            <a:prstGeom prst="ellipse">
              <a:avLst/>
            </a:prstGeom>
            <a:solidFill>
              <a:srgbClr val="4F46E5">
                <a:alpha val="5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0" y="4476750"/>
              <a:ext cx="1333500" cy="1333500"/>
            </a:xfrm>
            <a:prstGeom prst="ellipse">
              <a:avLst/>
            </a:prstGeom>
            <a:solidFill>
              <a:srgbClr val="06B6D4">
                <a:alpha val="7000"/>
              </a:srgb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897979" y="2171700"/>
            <a:ext cx="388521" cy="388521"/>
            <a:chOff x="5897979" y="2171700"/>
            <a:chExt cx="388521" cy="388521"/>
          </a:xfrm>
        </p:grpSpPr>
        <p:grpSp>
          <p:nvGrpSpPr>
            <p:cNvPr id="11" name="Group 11"/>
            <p:cNvGrpSpPr/>
            <p:nvPr/>
          </p:nvGrpSpPr>
          <p:grpSpPr>
            <a:xfrm>
              <a:off x="5897979" y="2171700"/>
              <a:ext cx="388521" cy="388521"/>
              <a:chOff x="5897979" y="2171700"/>
              <a:chExt cx="388521" cy="38852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905500" y="21717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214312"/>
                    </a:moveTo>
                    <a:cubicBezTo>
                      <a:pt x="87396" y="224699"/>
                      <a:pt x="156301" y="293604"/>
                      <a:pt x="166688" y="381000"/>
                    </a:cubicBezTo>
                    <a:cubicBezTo>
                      <a:pt x="209480" y="356329"/>
                      <a:pt x="236495" y="311305"/>
                      <a:pt x="238125" y="261938"/>
                    </a:cubicBezTo>
                    <a:cubicBezTo>
                      <a:pt x="319892" y="233173"/>
                      <a:pt x="376281" y="157988"/>
                      <a:pt x="381000" y="71438"/>
                    </a:cubicBezTo>
                    <a:cubicBezTo>
                      <a:pt x="381000" y="31984"/>
                      <a:pt x="349016" y="0"/>
                      <a:pt x="309562" y="0"/>
                    </a:cubicBezTo>
                    <a:cubicBezTo>
                      <a:pt x="223012" y="4719"/>
                      <a:pt x="147827" y="61108"/>
                      <a:pt x="119062" y="142875"/>
                    </a:cubicBezTo>
                    <a:cubicBezTo>
                      <a:pt x="69695" y="144505"/>
                      <a:pt x="24671" y="171520"/>
                      <a:pt x="0" y="214312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897979" y="2409825"/>
                <a:ext cx="150396" cy="150396"/>
              </a:xfrm>
              <a:custGeom>
                <a:avLst/>
                <a:gdLst/>
                <a:ahLst/>
                <a:cxnLst/>
                <a:rect l="l" t="t" r="r" b="b"/>
                <a:pathLst>
                  <a:path w="150396" h="150396">
                    <a:moveTo>
                      <a:pt x="78959" y="0"/>
                    </a:moveTo>
                    <a:cubicBezTo>
                      <a:pt x="28261" y="28622"/>
                      <a:pt x="0" y="85143"/>
                      <a:pt x="7521" y="142875"/>
                    </a:cubicBezTo>
                    <a:cubicBezTo>
                      <a:pt x="65253" y="150396"/>
                      <a:pt x="121774" y="122136"/>
                      <a:pt x="150396" y="71438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143625" y="22669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4F46E5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5071824" y="2847975"/>
            <a:ext cx="2048351" cy="304800"/>
            <a:chOff x="5071824" y="2847975"/>
            <a:chExt cx="2048351" cy="304800"/>
          </a:xfrm>
        </p:grpSpPr>
        <p:sp>
          <p:nvSpPr>
            <p:cNvPr id="13" name="TextBox 13"/>
            <p:cNvSpPr txBox="1"/>
            <p:nvPr/>
          </p:nvSpPr>
          <p:spPr>
            <a:xfrm>
              <a:off x="5071824" y="2847975"/>
              <a:ext cx="20483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感谢观看 · THANK YOU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29965" y="3307080"/>
            <a:ext cx="5132070" cy="731520"/>
            <a:chOff x="3529965" y="3307080"/>
            <a:chExt cx="5132070" cy="731520"/>
          </a:xfrm>
        </p:grpSpPr>
        <p:sp>
          <p:nvSpPr>
            <p:cNvPr id="15" name="TextBox 15"/>
            <p:cNvSpPr txBox="1"/>
            <p:nvPr/>
          </p:nvSpPr>
          <p:spPr>
            <a:xfrm>
              <a:off x="3529965" y="3307080"/>
              <a:ext cx="513207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E293B"/>
                  </a:solidFill>
                  <a:latin typeface="Segoe UI"/>
                  <a:ea typeface="Microsoft YaHei"/>
                  <a:cs typeface="Segoe UI"/>
                </a:rPr>
                <a:t>让短剧创作</a:t>
              </a:r>
              <a:r>
                <a:rPr lang="zh-CN" sz="3600" b="1" dirty="0">
                  <a:solidFill>
                    <a:srgbClr val="4F46E5"/>
                  </a:solidFill>
                  <a:latin typeface="Segoe UI"/>
                  <a:ea typeface="Microsoft YaHei"/>
                  <a:cs typeface="Segoe UI"/>
                </a:rPr>
                <a:t>如行云流水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32637" y="3950018"/>
            <a:ext cx="3526727" cy="274320"/>
            <a:chOff x="4332637" y="3950018"/>
            <a:chExt cx="3526727" cy="274320"/>
          </a:xfrm>
        </p:grpSpPr>
        <p:sp>
          <p:nvSpPr>
            <p:cNvPr id="17" name="TextBox 17"/>
            <p:cNvSpPr txBox="1"/>
            <p:nvPr/>
          </p:nvSpPr>
          <p:spPr>
            <a:xfrm>
              <a:off x="4332637" y="3950018"/>
              <a:ext cx="35267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4748B"/>
                  </a:solidFill>
                  <a:latin typeface="Segoe UI"/>
                  <a:ea typeface="Microsoft YaHei"/>
                  <a:cs typeface="Segoe UI"/>
                </a:rPr>
                <a:t>DramaFlow · AI 驱动的短剧全流程生产平台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24500" y="4381500"/>
            <a:ext cx="1143000" cy="38100"/>
            <a:chOff x="5524500" y="4381500"/>
            <a:chExt cx="1143000" cy="38100"/>
          </a:xfrm>
        </p:grpSpPr>
        <p:sp>
          <p:nvSpPr>
            <p:cNvPr id="19" name="Rectangle 19"/>
            <p:cNvSpPr/>
            <p:nvPr/>
          </p:nvSpPr>
          <p:spPr>
            <a:xfrm>
              <a:off x="5524500" y="4381500"/>
              <a:ext cx="11430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4F46E5"/>
                </a:gs>
                <a:gs pos="100000">
                  <a:srgbClr val="06B6D4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4456557" y="4709160"/>
            <a:ext cx="3278886" cy="243840"/>
            <a:chOff x="4456557" y="4709160"/>
            <a:chExt cx="3278886" cy="243840"/>
          </a:xfrm>
        </p:grpSpPr>
        <p:sp>
          <p:nvSpPr>
            <p:cNvPr id="21" name="TextBox 21"/>
            <p:cNvSpPr txBox="1"/>
            <p:nvPr/>
          </p:nvSpPr>
          <p:spPr>
            <a:xfrm>
              <a:off x="4456557" y="4709160"/>
              <a:ext cx="32788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94A3B8"/>
                  </a:solidFill>
                  <a:latin typeface="Consolas"/>
                  <a:ea typeface="Microsoft YaHei"/>
                  <a:cs typeface="Consolas"/>
                </a:rPr>
                <a:t>Node.js &gt;= 24 · npm install · npm run build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43500" y="5257800"/>
            <a:ext cx="1905000" cy="457200"/>
            <a:chOff x="5143500" y="5257800"/>
            <a:chExt cx="1905000" cy="457200"/>
          </a:xfrm>
        </p:grpSpPr>
        <p:sp>
          <p:nvSpPr>
            <p:cNvPr id="23" name="Rectangle 23"/>
            <p:cNvSpPr/>
            <p:nvPr/>
          </p:nvSpPr>
          <p:spPr>
            <a:xfrm>
              <a:off x="5143500" y="52578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4F46E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40753" y="5405914"/>
              <a:ext cx="17104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开始使用 DramaFlow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646938" y="6181249"/>
            <a:ext cx="28981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94A3B8"/>
                </a:solidFill>
                <a:latin typeface="Segoe UI"/>
                <a:ea typeface="Microsoft YaHei"/>
                <a:cs typeface="Segoe UI"/>
              </a:rPr>
              <a:t>Web :3000 · API :4000 · Swagger /docs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  <p:bldP spid="20" grpId="0"/>
      <p:bldP spid="22" grpId="0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2026-06-14T16:47:52Z</dcterms:created>
  <dcterms:modified xsi:type="dcterms:W3CDTF">2026-06-14T16:47:52Z</dcterms:modified>
  <cp:category/>
  <cp:contentStatus/>
</cp:coreProperties>
</file>